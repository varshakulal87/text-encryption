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9" r:id="rId1"/>
  </p:sldMasterIdLst>
  <p:notesMasterIdLst>
    <p:notesMasterId r:id="rId22"/>
  </p:notesMasterIdLst>
  <p:handoutMasterIdLst>
    <p:handoutMasterId r:id="rId23"/>
  </p:handoutMasterIdLst>
  <p:sldIdLst>
    <p:sldId id="273" r:id="rId2"/>
    <p:sldId id="274" r:id="rId3"/>
    <p:sldId id="283" r:id="rId4"/>
    <p:sldId id="284" r:id="rId5"/>
    <p:sldId id="289" r:id="rId6"/>
    <p:sldId id="290" r:id="rId7"/>
    <p:sldId id="291" r:id="rId8"/>
    <p:sldId id="285" r:id="rId9"/>
    <p:sldId id="292" r:id="rId10"/>
    <p:sldId id="293" r:id="rId11"/>
    <p:sldId id="294" r:id="rId12"/>
    <p:sldId id="295" r:id="rId13"/>
    <p:sldId id="299" r:id="rId14"/>
    <p:sldId id="296" r:id="rId15"/>
    <p:sldId id="297" r:id="rId16"/>
    <p:sldId id="298" r:id="rId17"/>
    <p:sldId id="287" r:id="rId18"/>
    <p:sldId id="288" r:id="rId19"/>
    <p:sldId id="281" r:id="rId20"/>
    <p:sldId id="282"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882" autoAdjust="0"/>
    <p:restoredTop sz="91280" autoAdjust="0"/>
  </p:normalViewPr>
  <p:slideViewPr>
    <p:cSldViewPr snapToGrid="0">
      <p:cViewPr varScale="1">
        <p:scale>
          <a:sx n="66" d="100"/>
          <a:sy n="66" d="100"/>
        </p:scale>
        <p:origin x="660" y="66"/>
      </p:cViewPr>
      <p:guideLst/>
    </p:cSldViewPr>
  </p:slideViewPr>
  <p:notesTextViewPr>
    <p:cViewPr>
      <p:scale>
        <a:sx n="1" d="1"/>
        <a:sy n="1" d="1"/>
      </p:scale>
      <p:origin x="0" y="0"/>
    </p:cViewPr>
  </p:notesTextViewPr>
  <p:notesViewPr>
    <p:cSldViewPr snapToGrid="0">
      <p:cViewPr varScale="1">
        <p:scale>
          <a:sx n="55" d="100"/>
          <a:sy n="55" d="100"/>
        </p:scale>
        <p:origin x="2880"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A696167-4EFF-433A-92B5-C6649E0B26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59BA5DD0-0ACD-4833-8DB1-22C0C131C80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8FEAB53-B61B-4CF4-A27F-B151490CB70D}" type="datetimeFigureOut">
              <a:rPr lang="en-IN" smtClean="0"/>
              <a:t>30-12-2025</a:t>
            </a:fld>
            <a:endParaRPr lang="en-IN"/>
          </a:p>
        </p:txBody>
      </p:sp>
      <p:sp>
        <p:nvSpPr>
          <p:cNvPr id="4" name="Footer Placeholder 3">
            <a:extLst>
              <a:ext uri="{FF2B5EF4-FFF2-40B4-BE49-F238E27FC236}">
                <a16:creationId xmlns:a16="http://schemas.microsoft.com/office/drawing/2014/main" id="{05439292-A4C3-45B2-8E7C-5A2377CFB9F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0B462D50-DD4E-45DF-9AEB-0ACEF9F9CA4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1A99F28-AF57-4B18-A7CF-85C05EA5406D}" type="slidenum">
              <a:rPr lang="en-IN" smtClean="0"/>
              <a:t>‹#›</a:t>
            </a:fld>
            <a:endParaRPr lang="en-IN"/>
          </a:p>
        </p:txBody>
      </p:sp>
    </p:spTree>
    <p:extLst>
      <p:ext uri="{BB962C8B-B14F-4D97-AF65-F5344CB8AC3E}">
        <p14:creationId xmlns:p14="http://schemas.microsoft.com/office/powerpoint/2010/main" val="1114797831"/>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A7D0B7-A471-4FF4-B43E-FEE43B39881E}" type="datetimeFigureOut">
              <a:rPr lang="en-IN" smtClean="0"/>
              <a:t>30-12-2025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89B5AC-6110-44DB-85B5-4E212217FDFA}" type="slidenum">
              <a:rPr lang="en-IN" smtClean="0"/>
              <a:t>‹#›</a:t>
            </a:fld>
            <a:endParaRPr lang="en-IN"/>
          </a:p>
        </p:txBody>
      </p:sp>
    </p:spTree>
    <p:extLst>
      <p:ext uri="{BB962C8B-B14F-4D97-AF65-F5344CB8AC3E}">
        <p14:creationId xmlns:p14="http://schemas.microsoft.com/office/powerpoint/2010/main" val="42329086"/>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endParaRPr lang="en-IN"/>
          </a:p>
        </p:txBody>
      </p:sp>
      <p:sp>
        <p:nvSpPr>
          <p:cNvPr id="5" name="Footer Placeholder 4"/>
          <p:cNvSpPr>
            <a:spLocks noGrp="1"/>
          </p:cNvSpPr>
          <p:nvPr>
            <p:ph type="ftr" sz="quarter" idx="4"/>
          </p:nvPr>
        </p:nvSpPr>
        <p:spPr/>
        <p:txBody>
          <a:bodyPr/>
          <a:lstStyle/>
          <a:p>
            <a:endParaRPr lang="en-IN"/>
          </a:p>
        </p:txBody>
      </p:sp>
      <p:sp>
        <p:nvSpPr>
          <p:cNvPr id="6" name="Slide Number Placeholder 5"/>
          <p:cNvSpPr>
            <a:spLocks noGrp="1"/>
          </p:cNvSpPr>
          <p:nvPr>
            <p:ph type="sldNum" sz="quarter" idx="5"/>
          </p:nvPr>
        </p:nvSpPr>
        <p:spPr/>
        <p:txBody>
          <a:bodyPr/>
          <a:lstStyle/>
          <a:p>
            <a:fld id="{7D89B5AC-6110-44DB-85B5-4E212217FDFA}" type="slidenum">
              <a:rPr lang="en-IN" smtClean="0"/>
              <a:t>1</a:t>
            </a:fld>
            <a:endParaRPr lang="en-IN"/>
          </a:p>
        </p:txBody>
      </p:sp>
    </p:spTree>
    <p:extLst>
      <p:ext uri="{BB962C8B-B14F-4D97-AF65-F5344CB8AC3E}">
        <p14:creationId xmlns:p14="http://schemas.microsoft.com/office/powerpoint/2010/main" val="7573538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endParaRPr lang="en-IN"/>
          </a:p>
        </p:txBody>
      </p:sp>
      <p:sp>
        <p:nvSpPr>
          <p:cNvPr id="5" name="Footer Placeholder 4"/>
          <p:cNvSpPr>
            <a:spLocks noGrp="1"/>
          </p:cNvSpPr>
          <p:nvPr>
            <p:ph type="ftr" sz="quarter" idx="4"/>
          </p:nvPr>
        </p:nvSpPr>
        <p:spPr/>
        <p:txBody>
          <a:bodyPr/>
          <a:lstStyle/>
          <a:p>
            <a:endParaRPr lang="en-IN"/>
          </a:p>
        </p:txBody>
      </p:sp>
      <p:sp>
        <p:nvSpPr>
          <p:cNvPr id="6" name="Slide Number Placeholder 5"/>
          <p:cNvSpPr>
            <a:spLocks noGrp="1"/>
          </p:cNvSpPr>
          <p:nvPr>
            <p:ph type="sldNum" sz="quarter" idx="5"/>
          </p:nvPr>
        </p:nvSpPr>
        <p:spPr/>
        <p:txBody>
          <a:bodyPr/>
          <a:lstStyle/>
          <a:p>
            <a:fld id="{7D89B5AC-6110-44DB-85B5-4E212217FDFA}" type="slidenum">
              <a:rPr lang="en-IN" smtClean="0"/>
              <a:t>2</a:t>
            </a:fld>
            <a:endParaRPr lang="en-IN"/>
          </a:p>
        </p:txBody>
      </p:sp>
    </p:spTree>
    <p:extLst>
      <p:ext uri="{BB962C8B-B14F-4D97-AF65-F5344CB8AC3E}">
        <p14:creationId xmlns:p14="http://schemas.microsoft.com/office/powerpoint/2010/main" val="37084029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endParaRPr lang="en-IN"/>
          </a:p>
        </p:txBody>
      </p:sp>
      <p:sp>
        <p:nvSpPr>
          <p:cNvPr id="5" name="Footer Placeholder 4"/>
          <p:cNvSpPr>
            <a:spLocks noGrp="1"/>
          </p:cNvSpPr>
          <p:nvPr>
            <p:ph type="ftr" sz="quarter" idx="4"/>
          </p:nvPr>
        </p:nvSpPr>
        <p:spPr/>
        <p:txBody>
          <a:bodyPr/>
          <a:lstStyle/>
          <a:p>
            <a:endParaRPr lang="en-IN"/>
          </a:p>
        </p:txBody>
      </p:sp>
      <p:sp>
        <p:nvSpPr>
          <p:cNvPr id="6" name="Slide Number Placeholder 5"/>
          <p:cNvSpPr>
            <a:spLocks noGrp="1"/>
          </p:cNvSpPr>
          <p:nvPr>
            <p:ph type="sldNum" sz="quarter" idx="5"/>
          </p:nvPr>
        </p:nvSpPr>
        <p:spPr/>
        <p:txBody>
          <a:bodyPr/>
          <a:lstStyle/>
          <a:p>
            <a:fld id="{7D89B5AC-6110-44DB-85B5-4E212217FDFA}" type="slidenum">
              <a:rPr lang="en-IN" smtClean="0"/>
              <a:t>3</a:t>
            </a:fld>
            <a:endParaRPr lang="en-IN"/>
          </a:p>
        </p:txBody>
      </p:sp>
    </p:spTree>
    <p:extLst>
      <p:ext uri="{BB962C8B-B14F-4D97-AF65-F5344CB8AC3E}">
        <p14:creationId xmlns:p14="http://schemas.microsoft.com/office/powerpoint/2010/main" val="34515306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endParaRPr lang="en-IN"/>
          </a:p>
        </p:txBody>
      </p:sp>
      <p:sp>
        <p:nvSpPr>
          <p:cNvPr id="5" name="Footer Placeholder 4"/>
          <p:cNvSpPr>
            <a:spLocks noGrp="1"/>
          </p:cNvSpPr>
          <p:nvPr>
            <p:ph type="ftr" sz="quarter" idx="4"/>
          </p:nvPr>
        </p:nvSpPr>
        <p:spPr/>
        <p:txBody>
          <a:bodyPr/>
          <a:lstStyle/>
          <a:p>
            <a:endParaRPr lang="en-IN"/>
          </a:p>
        </p:txBody>
      </p:sp>
      <p:sp>
        <p:nvSpPr>
          <p:cNvPr id="6" name="Slide Number Placeholder 5"/>
          <p:cNvSpPr>
            <a:spLocks noGrp="1"/>
          </p:cNvSpPr>
          <p:nvPr>
            <p:ph type="sldNum" sz="quarter" idx="5"/>
          </p:nvPr>
        </p:nvSpPr>
        <p:spPr/>
        <p:txBody>
          <a:bodyPr/>
          <a:lstStyle/>
          <a:p>
            <a:fld id="{7D89B5AC-6110-44DB-85B5-4E212217FDFA}" type="slidenum">
              <a:rPr lang="en-IN" smtClean="0"/>
              <a:t>19</a:t>
            </a:fld>
            <a:endParaRPr lang="en-IN"/>
          </a:p>
        </p:txBody>
      </p:sp>
    </p:spTree>
    <p:extLst>
      <p:ext uri="{BB962C8B-B14F-4D97-AF65-F5344CB8AC3E}">
        <p14:creationId xmlns:p14="http://schemas.microsoft.com/office/powerpoint/2010/main" val="14664635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endParaRPr lang="en-IN"/>
          </a:p>
        </p:txBody>
      </p:sp>
      <p:sp>
        <p:nvSpPr>
          <p:cNvPr id="5" name="Footer Placeholder 4"/>
          <p:cNvSpPr>
            <a:spLocks noGrp="1"/>
          </p:cNvSpPr>
          <p:nvPr>
            <p:ph type="ftr" sz="quarter" idx="4"/>
          </p:nvPr>
        </p:nvSpPr>
        <p:spPr/>
        <p:txBody>
          <a:bodyPr/>
          <a:lstStyle/>
          <a:p>
            <a:endParaRPr lang="en-IN"/>
          </a:p>
        </p:txBody>
      </p:sp>
      <p:sp>
        <p:nvSpPr>
          <p:cNvPr id="6" name="Slide Number Placeholder 5"/>
          <p:cNvSpPr>
            <a:spLocks noGrp="1"/>
          </p:cNvSpPr>
          <p:nvPr>
            <p:ph type="sldNum" sz="quarter" idx="5"/>
          </p:nvPr>
        </p:nvSpPr>
        <p:spPr/>
        <p:txBody>
          <a:bodyPr/>
          <a:lstStyle/>
          <a:p>
            <a:fld id="{7D89B5AC-6110-44DB-85B5-4E212217FDFA}" type="slidenum">
              <a:rPr lang="en-IN" smtClean="0"/>
              <a:t>20</a:t>
            </a:fld>
            <a:endParaRPr lang="en-IN"/>
          </a:p>
        </p:txBody>
      </p:sp>
    </p:spTree>
    <p:extLst>
      <p:ext uri="{BB962C8B-B14F-4D97-AF65-F5344CB8AC3E}">
        <p14:creationId xmlns:p14="http://schemas.microsoft.com/office/powerpoint/2010/main" val="14459851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709A61AB-66D9-4362-AC8B-07E3C2434CEE}" type="datetime1">
              <a:rPr lang="en-IN" smtClean="0"/>
              <a:t>30-12-2025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4BC31F5-1E97-466F-8EF5-91664CFBA828}" type="slidenum">
              <a:rPr lang="en-IN" smtClean="0"/>
              <a:t>‹#›</a:t>
            </a:fld>
            <a:endParaRPr lang="en-IN"/>
          </a:p>
        </p:txBody>
      </p:sp>
    </p:spTree>
    <p:extLst>
      <p:ext uri="{BB962C8B-B14F-4D97-AF65-F5344CB8AC3E}">
        <p14:creationId xmlns:p14="http://schemas.microsoft.com/office/powerpoint/2010/main" val="8369906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2000">
        <p15:prstTrans prst="peelOff"/>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115D74E-E375-46E4-974F-870EC696834A}" type="datetime1">
              <a:rPr lang="en-IN" smtClean="0"/>
              <a:t>30-12-2025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4BC31F5-1E97-466F-8EF5-91664CFBA828}" type="slidenum">
              <a:rPr lang="en-IN" smtClean="0"/>
              <a:t>‹#›</a:t>
            </a:fld>
            <a:endParaRPr lang="en-IN"/>
          </a:p>
        </p:txBody>
      </p:sp>
    </p:spTree>
    <p:extLst>
      <p:ext uri="{BB962C8B-B14F-4D97-AF65-F5344CB8AC3E}">
        <p14:creationId xmlns:p14="http://schemas.microsoft.com/office/powerpoint/2010/main" val="69474790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eelOff"/>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FD214264-C506-4326-ADB8-94EF3F09FAE9}" type="datetime1">
              <a:rPr lang="en-IN" smtClean="0"/>
              <a:t>30-12-2025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4BC31F5-1E97-466F-8EF5-91664CFBA828}" type="slidenum">
              <a:rPr lang="en-IN" smtClean="0"/>
              <a:t>‹#›</a:t>
            </a:fld>
            <a:endParaRPr lang="en-IN"/>
          </a:p>
        </p:txBody>
      </p:sp>
    </p:spTree>
    <p:extLst>
      <p:ext uri="{BB962C8B-B14F-4D97-AF65-F5344CB8AC3E}">
        <p14:creationId xmlns:p14="http://schemas.microsoft.com/office/powerpoint/2010/main" val="307903866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2000">
        <p15:prstTrans prst="peelOff"/>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7B006F5B-9252-46C5-8EA9-6D67DADD2C5C}" type="datetime1">
              <a:rPr lang="en-IN" smtClean="0"/>
              <a:t>30-12-2025</a:t>
            </a:fld>
            <a:endParaRPr lang="en-IN"/>
          </a:p>
        </p:txBody>
      </p:sp>
      <p:sp>
        <p:nvSpPr>
          <p:cNvPr id="9" name="Footer Placeholder 8"/>
          <p:cNvSpPr>
            <a:spLocks noGrp="1"/>
          </p:cNvSpPr>
          <p:nvPr>
            <p:ph type="ftr" sz="quarter" idx="11"/>
          </p:nvPr>
        </p:nvSpPr>
        <p:spPr/>
        <p:txBody>
          <a:bodyPr/>
          <a:lstStyle/>
          <a:p>
            <a:endParaRPr lang="en-IN"/>
          </a:p>
        </p:txBody>
      </p:sp>
      <p:sp>
        <p:nvSpPr>
          <p:cNvPr id="10" name="Slide Number Placeholder 9"/>
          <p:cNvSpPr>
            <a:spLocks noGrp="1"/>
          </p:cNvSpPr>
          <p:nvPr>
            <p:ph type="sldNum" sz="quarter" idx="12"/>
          </p:nvPr>
        </p:nvSpPr>
        <p:spPr/>
        <p:txBody>
          <a:bodyPr/>
          <a:lstStyle/>
          <a:p>
            <a:fld id="{A4BC31F5-1E97-466F-8EF5-91664CFBA828}" type="slidenum">
              <a:rPr lang="en-IN" smtClean="0"/>
              <a:t>‹#›</a:t>
            </a:fld>
            <a:endParaRPr lang="en-IN"/>
          </a:p>
        </p:txBody>
      </p:sp>
    </p:spTree>
    <p:extLst>
      <p:ext uri="{BB962C8B-B14F-4D97-AF65-F5344CB8AC3E}">
        <p14:creationId xmlns:p14="http://schemas.microsoft.com/office/powerpoint/2010/main" val="20634147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eelOff"/>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AE43FE2E-F4EA-41C4-8BC5-5E27AA7D378B}" type="datetime1">
              <a:rPr lang="en-IN" smtClean="0"/>
              <a:t>30-12-2025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4BC31F5-1E97-466F-8EF5-91664CFBA828}" type="slidenum">
              <a:rPr lang="en-IN" smtClean="0"/>
              <a:t>‹#›</a:t>
            </a:fld>
            <a:endParaRPr lang="en-IN"/>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4062017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eelOff"/>
      </p:transition>
    </mc:Choice>
    <mc:Fallback xmlns="">
      <p:transition spd="slow">
        <p:fade/>
      </p:transition>
    </mc:Fallback>
  </mc:AlternateContent>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76F2F94-742F-4E9C-A9C1-D5971AF42A96}" type="datetime1">
              <a:rPr lang="en-IN" smtClean="0"/>
              <a:t>30-12-2025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4BC31F5-1E97-466F-8EF5-91664CFBA828}" type="slidenum">
              <a:rPr lang="en-IN" smtClean="0"/>
              <a:t>‹#›</a:t>
            </a:fld>
            <a:endParaRPr lang="en-IN"/>
          </a:p>
        </p:txBody>
      </p:sp>
    </p:spTree>
    <p:extLst>
      <p:ext uri="{BB962C8B-B14F-4D97-AF65-F5344CB8AC3E}">
        <p14:creationId xmlns:p14="http://schemas.microsoft.com/office/powerpoint/2010/main" val="23910764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eelOff"/>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F0676F-47E3-458B-B9E6-84A36EC64055}" type="datetime1">
              <a:rPr lang="en-IN" smtClean="0"/>
              <a:t>30-12-2025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4BC31F5-1E97-466F-8EF5-91664CFBA828}" type="slidenum">
              <a:rPr lang="en-IN" smtClean="0"/>
              <a:t>‹#›</a:t>
            </a:fld>
            <a:endParaRPr lang="en-IN"/>
          </a:p>
        </p:txBody>
      </p:sp>
    </p:spTree>
    <p:extLst>
      <p:ext uri="{BB962C8B-B14F-4D97-AF65-F5344CB8AC3E}">
        <p14:creationId xmlns:p14="http://schemas.microsoft.com/office/powerpoint/2010/main" val="1330280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eelOff"/>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B26AB790-1DB7-4CC4-BA7F-BA8FF0357FB9}" type="datetime1">
              <a:rPr lang="en-IN" smtClean="0"/>
              <a:t>30-12-2025</a:t>
            </a:fld>
            <a:endParaRPr lang="en-IN"/>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IN"/>
          </a:p>
        </p:txBody>
      </p:sp>
      <p:sp>
        <p:nvSpPr>
          <p:cNvPr id="11" name="Slide Number Placeholder 10"/>
          <p:cNvSpPr>
            <a:spLocks noGrp="1"/>
          </p:cNvSpPr>
          <p:nvPr>
            <p:ph type="sldNum" sz="quarter" idx="12"/>
          </p:nvPr>
        </p:nvSpPr>
        <p:spPr/>
        <p:txBody>
          <a:bodyPr/>
          <a:lstStyle/>
          <a:p>
            <a:fld id="{A4BC31F5-1E97-466F-8EF5-91664CFBA828}" type="slidenum">
              <a:rPr lang="en-IN" smtClean="0"/>
              <a:t>‹#›</a:t>
            </a:fld>
            <a:endParaRPr lang="en-IN"/>
          </a:p>
        </p:txBody>
      </p:sp>
    </p:spTree>
    <p:extLst>
      <p:ext uri="{BB962C8B-B14F-4D97-AF65-F5344CB8AC3E}">
        <p14:creationId xmlns:p14="http://schemas.microsoft.com/office/powerpoint/2010/main" val="26623815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eelOff"/>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4A4A3E36-EC2A-4804-BBEF-2503B4681602}" type="datetime1">
              <a:rPr lang="en-IN" smtClean="0"/>
              <a:t>30-12-2025</a:t>
            </a:fld>
            <a:endParaRPr lang="en-IN"/>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IN"/>
          </a:p>
        </p:txBody>
      </p:sp>
      <p:sp>
        <p:nvSpPr>
          <p:cNvPr id="10" name="Slide Number Placeholder 9"/>
          <p:cNvSpPr>
            <a:spLocks noGrp="1"/>
          </p:cNvSpPr>
          <p:nvPr>
            <p:ph type="sldNum" sz="quarter" idx="12"/>
          </p:nvPr>
        </p:nvSpPr>
        <p:spPr/>
        <p:txBody>
          <a:bodyPr/>
          <a:lstStyle/>
          <a:p>
            <a:fld id="{A4BC31F5-1E97-466F-8EF5-91664CFBA828}" type="slidenum">
              <a:rPr lang="en-IN" smtClean="0"/>
              <a:t>‹#›</a:t>
            </a:fld>
            <a:endParaRPr lang="en-IN"/>
          </a:p>
        </p:txBody>
      </p:sp>
    </p:spTree>
    <p:extLst>
      <p:ext uri="{BB962C8B-B14F-4D97-AF65-F5344CB8AC3E}">
        <p14:creationId xmlns:p14="http://schemas.microsoft.com/office/powerpoint/2010/main" val="315993051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eelOff"/>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77F79D-E1D7-4C54-84C6-B36A7A351F14}" type="datetime1">
              <a:rPr lang="en-IN" smtClean="0"/>
              <a:t>30-12-2025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BC31F5-1E97-466F-8EF5-91664CFBA828}" type="slidenum">
              <a:rPr lang="en-IN" smtClean="0"/>
              <a:t>‹#›</a:t>
            </a:fld>
            <a:endParaRPr lang="en-IN"/>
          </a:p>
        </p:txBody>
      </p:sp>
    </p:spTree>
    <p:extLst>
      <p:ext uri="{BB962C8B-B14F-4D97-AF65-F5344CB8AC3E}">
        <p14:creationId xmlns:p14="http://schemas.microsoft.com/office/powerpoint/2010/main" val="141150887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eelOff"/>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F4B171-127F-4197-AC22-7B0B6B34CC0C}" type="datetime1">
              <a:rPr lang="en-IN" smtClean="0"/>
              <a:t>30-12-2025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BC31F5-1E97-466F-8EF5-91664CFBA828}" type="slidenum">
              <a:rPr lang="en-IN" smtClean="0"/>
              <a:t>‹#›</a:t>
            </a:fld>
            <a:endParaRPr lang="en-IN"/>
          </a:p>
        </p:txBody>
      </p:sp>
    </p:spTree>
    <p:extLst>
      <p:ext uri="{BB962C8B-B14F-4D97-AF65-F5344CB8AC3E}">
        <p14:creationId xmlns:p14="http://schemas.microsoft.com/office/powerpoint/2010/main" val="79388883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eelOff"/>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AE43FE2E-F4EA-41C4-8BC5-5E27AA7D378B}" type="datetime1">
              <a:rPr lang="en-IN" smtClean="0"/>
              <a:t>30-12-2025</a:t>
            </a:fld>
            <a:endParaRPr lang="en-IN"/>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IN"/>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A4BC31F5-1E97-466F-8EF5-91664CFBA828}" type="slidenum">
              <a:rPr lang="en-IN" smtClean="0"/>
              <a:t>‹#›</a:t>
            </a:fld>
            <a:endParaRPr lang="en-IN"/>
          </a:p>
        </p:txBody>
      </p:sp>
    </p:spTree>
    <p:extLst>
      <p:ext uri="{BB962C8B-B14F-4D97-AF65-F5344CB8AC3E}">
        <p14:creationId xmlns:p14="http://schemas.microsoft.com/office/powerpoint/2010/main" val="2983492209"/>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Lst>
  <mc:AlternateContent xmlns:mc="http://schemas.openxmlformats.org/markup-compatibility/2006" xmlns:p15="http://schemas.microsoft.com/office/powerpoint/2012/main">
    <mc:Choice Requires="p15">
      <p:transition xmlns:p14="http://schemas.microsoft.com/office/powerpoint/2010/main" spd="slow" p14:dur="2000">
        <p15:prstTrans prst="peelOff"/>
      </p:transition>
    </mc:Choice>
    <mc:Fallback xmlns="">
      <p:transition spd="slow">
        <p:fade/>
      </p:transition>
    </mc:Fallback>
  </mc:AlternateConten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F806A78-BB9B-46AA-B1BE-CCA429BBB3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7998"/>
          </a:xfrm>
          <a:prstGeom prst="rect">
            <a:avLst/>
          </a:prstGeom>
        </p:spPr>
      </p:pic>
      <p:graphicFrame>
        <p:nvGraphicFramePr>
          <p:cNvPr id="10" name="Table 10">
            <a:extLst>
              <a:ext uri="{FF2B5EF4-FFF2-40B4-BE49-F238E27FC236}">
                <a16:creationId xmlns:a16="http://schemas.microsoft.com/office/drawing/2014/main" id="{20F3369E-7FCB-40F6-A871-B52A82DC2CF4}"/>
              </a:ext>
            </a:extLst>
          </p:cNvPr>
          <p:cNvGraphicFramePr>
            <a:graphicFrameLocks noGrp="1"/>
          </p:cNvGraphicFramePr>
          <p:nvPr>
            <p:extLst>
              <p:ext uri="{D42A27DB-BD31-4B8C-83A1-F6EECF244321}">
                <p14:modId xmlns:p14="http://schemas.microsoft.com/office/powerpoint/2010/main" val="2601052066"/>
              </p:ext>
            </p:extLst>
          </p:nvPr>
        </p:nvGraphicFramePr>
        <p:xfrm>
          <a:off x="-3732524" y="0"/>
          <a:ext cx="4018274" cy="6857998"/>
        </p:xfrm>
        <a:graphic>
          <a:graphicData uri="http://schemas.openxmlformats.org/drawingml/2006/table">
            <a:tbl>
              <a:tblPr firstRow="1" bandRow="1">
                <a:tableStyleId>{5C22544A-7EE6-4342-B048-85BDC9FD1C3A}</a:tableStyleId>
              </a:tblPr>
              <a:tblGrid>
                <a:gridCol w="309098">
                  <a:extLst>
                    <a:ext uri="{9D8B030D-6E8A-4147-A177-3AD203B41FA5}">
                      <a16:colId xmlns:a16="http://schemas.microsoft.com/office/drawing/2014/main" val="1018318942"/>
                    </a:ext>
                  </a:extLst>
                </a:gridCol>
                <a:gridCol w="309098">
                  <a:extLst>
                    <a:ext uri="{9D8B030D-6E8A-4147-A177-3AD203B41FA5}">
                      <a16:colId xmlns:a16="http://schemas.microsoft.com/office/drawing/2014/main" val="1556837738"/>
                    </a:ext>
                  </a:extLst>
                </a:gridCol>
                <a:gridCol w="309098">
                  <a:extLst>
                    <a:ext uri="{9D8B030D-6E8A-4147-A177-3AD203B41FA5}">
                      <a16:colId xmlns:a16="http://schemas.microsoft.com/office/drawing/2014/main" val="407672743"/>
                    </a:ext>
                  </a:extLst>
                </a:gridCol>
                <a:gridCol w="309098">
                  <a:extLst>
                    <a:ext uri="{9D8B030D-6E8A-4147-A177-3AD203B41FA5}">
                      <a16:colId xmlns:a16="http://schemas.microsoft.com/office/drawing/2014/main" val="224714158"/>
                    </a:ext>
                  </a:extLst>
                </a:gridCol>
                <a:gridCol w="309098">
                  <a:extLst>
                    <a:ext uri="{9D8B030D-6E8A-4147-A177-3AD203B41FA5}">
                      <a16:colId xmlns:a16="http://schemas.microsoft.com/office/drawing/2014/main" val="1285657848"/>
                    </a:ext>
                  </a:extLst>
                </a:gridCol>
                <a:gridCol w="309098">
                  <a:extLst>
                    <a:ext uri="{9D8B030D-6E8A-4147-A177-3AD203B41FA5}">
                      <a16:colId xmlns:a16="http://schemas.microsoft.com/office/drawing/2014/main" val="451389259"/>
                    </a:ext>
                  </a:extLst>
                </a:gridCol>
                <a:gridCol w="309098">
                  <a:extLst>
                    <a:ext uri="{9D8B030D-6E8A-4147-A177-3AD203B41FA5}">
                      <a16:colId xmlns:a16="http://schemas.microsoft.com/office/drawing/2014/main" val="2092875743"/>
                    </a:ext>
                  </a:extLst>
                </a:gridCol>
                <a:gridCol w="309098">
                  <a:extLst>
                    <a:ext uri="{9D8B030D-6E8A-4147-A177-3AD203B41FA5}">
                      <a16:colId xmlns:a16="http://schemas.microsoft.com/office/drawing/2014/main" val="2692672111"/>
                    </a:ext>
                  </a:extLst>
                </a:gridCol>
                <a:gridCol w="309098">
                  <a:extLst>
                    <a:ext uri="{9D8B030D-6E8A-4147-A177-3AD203B41FA5}">
                      <a16:colId xmlns:a16="http://schemas.microsoft.com/office/drawing/2014/main" val="2765356661"/>
                    </a:ext>
                  </a:extLst>
                </a:gridCol>
                <a:gridCol w="309098">
                  <a:extLst>
                    <a:ext uri="{9D8B030D-6E8A-4147-A177-3AD203B41FA5}">
                      <a16:colId xmlns:a16="http://schemas.microsoft.com/office/drawing/2014/main" val="3180929778"/>
                    </a:ext>
                  </a:extLst>
                </a:gridCol>
                <a:gridCol w="309098">
                  <a:extLst>
                    <a:ext uri="{9D8B030D-6E8A-4147-A177-3AD203B41FA5}">
                      <a16:colId xmlns:a16="http://schemas.microsoft.com/office/drawing/2014/main" val="1759769754"/>
                    </a:ext>
                  </a:extLst>
                </a:gridCol>
                <a:gridCol w="309098">
                  <a:extLst>
                    <a:ext uri="{9D8B030D-6E8A-4147-A177-3AD203B41FA5}">
                      <a16:colId xmlns:a16="http://schemas.microsoft.com/office/drawing/2014/main" val="521950733"/>
                    </a:ext>
                  </a:extLst>
                </a:gridCol>
                <a:gridCol w="309098">
                  <a:extLst>
                    <a:ext uri="{9D8B030D-6E8A-4147-A177-3AD203B41FA5}">
                      <a16:colId xmlns:a16="http://schemas.microsoft.com/office/drawing/2014/main" val="2559871828"/>
                    </a:ext>
                  </a:extLst>
                </a:gridCol>
              </a:tblGrid>
              <a:tr h="6857998">
                <a:tc>
                  <a:txBody>
                    <a:bodyPr/>
                    <a:lstStyle/>
                    <a:p>
                      <a:endParaRPr lang="en-IN"/>
                    </a:p>
                  </a:txBody>
                  <a:tcPr>
                    <a:lnR w="12700" cmpd="sng">
                      <a:noFill/>
                    </a:lnR>
                    <a:solidFill>
                      <a:schemeClr val="tx1"/>
                    </a:solid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solid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alpha val="90000"/>
                      </a:schemeClr>
                    </a:solid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alpha val="80000"/>
                      </a:schemeClr>
                    </a:solid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alpha val="70000"/>
                      </a:schemeClr>
                    </a:solid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alpha val="60000"/>
                      </a:schemeClr>
                    </a:solid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alpha val="50000"/>
                      </a:schemeClr>
                    </a:solid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alpha val="40000"/>
                      </a:schemeClr>
                    </a:solid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alpha val="30000"/>
                      </a:schemeClr>
                    </a:solid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alpha val="20000"/>
                      </a:schemeClr>
                    </a:solid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alpha val="20000"/>
                      </a:schemeClr>
                    </a:solid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alpha val="10000"/>
                      </a:schemeClr>
                    </a:solid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alpha val="0"/>
                      </a:schemeClr>
                    </a:solidFill>
                  </a:tcPr>
                </a:tc>
                <a:extLst>
                  <a:ext uri="{0D108BD9-81ED-4DB2-BD59-A6C34878D82A}">
                    <a16:rowId xmlns:a16="http://schemas.microsoft.com/office/drawing/2014/main" val="2622045072"/>
                  </a:ext>
                </a:extLst>
              </a:tr>
            </a:tbl>
          </a:graphicData>
        </a:graphic>
      </p:graphicFrame>
    </p:spTree>
    <p:extLst>
      <p:ext uri="{BB962C8B-B14F-4D97-AF65-F5344CB8AC3E}">
        <p14:creationId xmlns:p14="http://schemas.microsoft.com/office/powerpoint/2010/main" val="595967379"/>
      </p:ext>
    </p:extLst>
  </p:cSld>
  <p:clrMapOvr>
    <a:masterClrMapping/>
  </p:clrMapOvr>
  <p:transition advTm="2000"/>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F806A78-BB9B-46AA-B1BE-CCA429BBB3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68880" y="0"/>
            <a:ext cx="9723120" cy="6857998"/>
          </a:xfrm>
          <a:prstGeom prst="rect">
            <a:avLst/>
          </a:prstGeom>
        </p:spPr>
      </p:pic>
      <p:graphicFrame>
        <p:nvGraphicFramePr>
          <p:cNvPr id="10" name="Table 10">
            <a:extLst>
              <a:ext uri="{FF2B5EF4-FFF2-40B4-BE49-F238E27FC236}">
                <a16:creationId xmlns:a16="http://schemas.microsoft.com/office/drawing/2014/main" id="{20F3369E-7FCB-40F6-A871-B52A82DC2CF4}"/>
              </a:ext>
            </a:extLst>
          </p:cNvPr>
          <p:cNvGraphicFramePr>
            <a:graphicFrameLocks noGrp="1"/>
          </p:cNvGraphicFramePr>
          <p:nvPr/>
        </p:nvGraphicFramePr>
        <p:xfrm>
          <a:off x="-1549400" y="0"/>
          <a:ext cx="9047480" cy="6857998"/>
        </p:xfrm>
        <a:graphic>
          <a:graphicData uri="http://schemas.openxmlformats.org/drawingml/2006/table">
            <a:tbl>
              <a:tblPr firstRow="1" bandRow="1">
                <a:tableStyleId>{5C22544A-7EE6-4342-B048-85BDC9FD1C3A}</a:tableStyleId>
              </a:tblPr>
              <a:tblGrid>
                <a:gridCol w="695960">
                  <a:extLst>
                    <a:ext uri="{9D8B030D-6E8A-4147-A177-3AD203B41FA5}">
                      <a16:colId xmlns:a16="http://schemas.microsoft.com/office/drawing/2014/main" val="1018318942"/>
                    </a:ext>
                  </a:extLst>
                </a:gridCol>
                <a:gridCol w="695960">
                  <a:extLst>
                    <a:ext uri="{9D8B030D-6E8A-4147-A177-3AD203B41FA5}">
                      <a16:colId xmlns:a16="http://schemas.microsoft.com/office/drawing/2014/main" val="1556837738"/>
                    </a:ext>
                  </a:extLst>
                </a:gridCol>
                <a:gridCol w="695960">
                  <a:extLst>
                    <a:ext uri="{9D8B030D-6E8A-4147-A177-3AD203B41FA5}">
                      <a16:colId xmlns:a16="http://schemas.microsoft.com/office/drawing/2014/main" val="407672743"/>
                    </a:ext>
                  </a:extLst>
                </a:gridCol>
                <a:gridCol w="695960">
                  <a:extLst>
                    <a:ext uri="{9D8B030D-6E8A-4147-A177-3AD203B41FA5}">
                      <a16:colId xmlns:a16="http://schemas.microsoft.com/office/drawing/2014/main" val="224714158"/>
                    </a:ext>
                  </a:extLst>
                </a:gridCol>
                <a:gridCol w="695960">
                  <a:extLst>
                    <a:ext uri="{9D8B030D-6E8A-4147-A177-3AD203B41FA5}">
                      <a16:colId xmlns:a16="http://schemas.microsoft.com/office/drawing/2014/main" val="1285657848"/>
                    </a:ext>
                  </a:extLst>
                </a:gridCol>
                <a:gridCol w="695960">
                  <a:extLst>
                    <a:ext uri="{9D8B030D-6E8A-4147-A177-3AD203B41FA5}">
                      <a16:colId xmlns:a16="http://schemas.microsoft.com/office/drawing/2014/main" val="451389259"/>
                    </a:ext>
                  </a:extLst>
                </a:gridCol>
                <a:gridCol w="695960">
                  <a:extLst>
                    <a:ext uri="{9D8B030D-6E8A-4147-A177-3AD203B41FA5}">
                      <a16:colId xmlns:a16="http://schemas.microsoft.com/office/drawing/2014/main" val="2092875743"/>
                    </a:ext>
                  </a:extLst>
                </a:gridCol>
                <a:gridCol w="695960">
                  <a:extLst>
                    <a:ext uri="{9D8B030D-6E8A-4147-A177-3AD203B41FA5}">
                      <a16:colId xmlns:a16="http://schemas.microsoft.com/office/drawing/2014/main" val="2692672111"/>
                    </a:ext>
                  </a:extLst>
                </a:gridCol>
                <a:gridCol w="695960">
                  <a:extLst>
                    <a:ext uri="{9D8B030D-6E8A-4147-A177-3AD203B41FA5}">
                      <a16:colId xmlns:a16="http://schemas.microsoft.com/office/drawing/2014/main" val="2765356661"/>
                    </a:ext>
                  </a:extLst>
                </a:gridCol>
                <a:gridCol w="695960">
                  <a:extLst>
                    <a:ext uri="{9D8B030D-6E8A-4147-A177-3AD203B41FA5}">
                      <a16:colId xmlns:a16="http://schemas.microsoft.com/office/drawing/2014/main" val="3180929778"/>
                    </a:ext>
                  </a:extLst>
                </a:gridCol>
                <a:gridCol w="695960">
                  <a:extLst>
                    <a:ext uri="{9D8B030D-6E8A-4147-A177-3AD203B41FA5}">
                      <a16:colId xmlns:a16="http://schemas.microsoft.com/office/drawing/2014/main" val="1759769754"/>
                    </a:ext>
                  </a:extLst>
                </a:gridCol>
                <a:gridCol w="695960">
                  <a:extLst>
                    <a:ext uri="{9D8B030D-6E8A-4147-A177-3AD203B41FA5}">
                      <a16:colId xmlns:a16="http://schemas.microsoft.com/office/drawing/2014/main" val="521950733"/>
                    </a:ext>
                  </a:extLst>
                </a:gridCol>
                <a:gridCol w="695960">
                  <a:extLst>
                    <a:ext uri="{9D8B030D-6E8A-4147-A177-3AD203B41FA5}">
                      <a16:colId xmlns:a16="http://schemas.microsoft.com/office/drawing/2014/main" val="2559871828"/>
                    </a:ext>
                  </a:extLst>
                </a:gridCol>
              </a:tblGrid>
              <a:tr h="6857998">
                <a:tc>
                  <a:txBody>
                    <a:bodyPr/>
                    <a:lstStyle/>
                    <a:p>
                      <a:endParaRPr lang="en-IN"/>
                    </a:p>
                  </a:txBody>
                  <a:tcPr>
                    <a:lnR w="12700" cmpd="sng">
                      <a:noFill/>
                    </a:lnR>
                    <a:solidFill>
                      <a:schemeClr val="tx1"/>
                    </a:solid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solid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alpha val="90000"/>
                      </a:schemeClr>
                    </a:solid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alpha val="80000"/>
                      </a:schemeClr>
                    </a:solid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alpha val="70000"/>
                      </a:schemeClr>
                    </a:solid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alpha val="60000"/>
                      </a:schemeClr>
                    </a:solid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alpha val="50000"/>
                      </a:schemeClr>
                    </a:solid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alpha val="40000"/>
                      </a:schemeClr>
                    </a:solid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alpha val="30000"/>
                      </a:schemeClr>
                    </a:solid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alpha val="20000"/>
                      </a:schemeClr>
                    </a:solid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alpha val="20000"/>
                      </a:schemeClr>
                    </a:solid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alpha val="10000"/>
                      </a:schemeClr>
                    </a:solid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alpha val="0"/>
                      </a:schemeClr>
                    </a:solidFill>
                  </a:tcPr>
                </a:tc>
                <a:extLst>
                  <a:ext uri="{0D108BD9-81ED-4DB2-BD59-A6C34878D82A}">
                    <a16:rowId xmlns:a16="http://schemas.microsoft.com/office/drawing/2014/main" val="2622045072"/>
                  </a:ext>
                </a:extLst>
              </a:tr>
            </a:tbl>
          </a:graphicData>
        </a:graphic>
      </p:graphicFrame>
      <p:sp>
        <p:nvSpPr>
          <p:cNvPr id="2" name="TextBox 1">
            <a:extLst>
              <a:ext uri="{FF2B5EF4-FFF2-40B4-BE49-F238E27FC236}">
                <a16:creationId xmlns:a16="http://schemas.microsoft.com/office/drawing/2014/main" id="{51830038-6F5A-47F5-B7B4-BED43AAB8835}"/>
              </a:ext>
            </a:extLst>
          </p:cNvPr>
          <p:cNvSpPr txBox="1"/>
          <p:nvPr/>
        </p:nvSpPr>
        <p:spPr>
          <a:xfrm>
            <a:off x="336731" y="2425670"/>
            <a:ext cx="8560526" cy="1569660"/>
          </a:xfrm>
          <a:prstGeom prst="rect">
            <a:avLst/>
          </a:prstGeom>
          <a:noFill/>
        </p:spPr>
        <p:txBody>
          <a:bodyPr wrap="square" rtlCol="0">
            <a:spAutoFit/>
          </a:bodyPr>
          <a:lstStyle/>
          <a:p>
            <a:r>
              <a:rPr lang="en-US" sz="9600" dirty="0">
                <a:solidFill>
                  <a:schemeClr val="bg1"/>
                </a:solidFill>
              </a:rPr>
              <a:t>NETWORKING</a:t>
            </a:r>
            <a:endParaRPr lang="en-IN" sz="9600" dirty="0">
              <a:solidFill>
                <a:schemeClr val="bg1"/>
              </a:solidFill>
            </a:endParaRPr>
          </a:p>
        </p:txBody>
      </p:sp>
    </p:spTree>
    <p:extLst>
      <p:ext uri="{BB962C8B-B14F-4D97-AF65-F5344CB8AC3E}">
        <p14:creationId xmlns:p14="http://schemas.microsoft.com/office/powerpoint/2010/main" val="4712573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C968608-AC9A-4F93-81AD-88BBF6FDC252}"/>
              </a:ext>
            </a:extLst>
          </p:cNvPr>
          <p:cNvSpPr txBox="1"/>
          <p:nvPr/>
        </p:nvSpPr>
        <p:spPr>
          <a:xfrm>
            <a:off x="382048" y="2528472"/>
            <a:ext cx="454297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Introduction</a:t>
            </a:r>
            <a:endParaRPr lang="en-IN" sz="24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48EDB188-5758-4ADD-AAA5-CFCB9258BA29}"/>
              </a:ext>
            </a:extLst>
          </p:cNvPr>
          <p:cNvSpPr txBox="1"/>
          <p:nvPr/>
        </p:nvSpPr>
        <p:spPr>
          <a:xfrm>
            <a:off x="0" y="3120493"/>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Types of Network</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464DECD-3C3F-4A7E-9676-4AC57D2B76B4}"/>
              </a:ext>
            </a:extLst>
          </p:cNvPr>
          <p:cNvSpPr txBox="1"/>
          <p:nvPr/>
        </p:nvSpPr>
        <p:spPr>
          <a:xfrm>
            <a:off x="0" y="3701297"/>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Network Topologies</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28D0C966-B21C-4024-A3DB-9100C3ED4FCA}"/>
              </a:ext>
            </a:extLst>
          </p:cNvPr>
          <p:cNvSpPr txBox="1"/>
          <p:nvPr/>
        </p:nvSpPr>
        <p:spPr>
          <a:xfrm>
            <a:off x="4677" y="4212045"/>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Network Devices</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B8B5216A-62E5-4894-97F6-24CEA64DE922}"/>
              </a:ext>
            </a:extLst>
          </p:cNvPr>
          <p:cNvSpPr txBox="1"/>
          <p:nvPr/>
        </p:nvSpPr>
        <p:spPr>
          <a:xfrm>
            <a:off x="0" y="5225631"/>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Real-Life Uses</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42259DF4-AC5A-4C8D-B877-7F193462D5DF}"/>
              </a:ext>
            </a:extLst>
          </p:cNvPr>
          <p:cNvSpPr txBox="1"/>
          <p:nvPr/>
        </p:nvSpPr>
        <p:spPr>
          <a:xfrm>
            <a:off x="0" y="5677709"/>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Summary</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10" name="Isosceles Triangle 9">
            <a:extLst>
              <a:ext uri="{FF2B5EF4-FFF2-40B4-BE49-F238E27FC236}">
                <a16:creationId xmlns:a16="http://schemas.microsoft.com/office/drawing/2014/main" id="{17030408-AF64-4E72-A471-E831EBE2FF76}"/>
              </a:ext>
            </a:extLst>
          </p:cNvPr>
          <p:cNvSpPr/>
          <p:nvPr/>
        </p:nvSpPr>
        <p:spPr>
          <a:xfrm rot="5400000">
            <a:off x="-2720" y="2560868"/>
            <a:ext cx="476250" cy="39705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4" name="Straight Connector 13">
            <a:extLst>
              <a:ext uri="{FF2B5EF4-FFF2-40B4-BE49-F238E27FC236}">
                <a16:creationId xmlns:a16="http://schemas.microsoft.com/office/drawing/2014/main" id="{8366EDB3-033D-4101-8FA2-98A120D5E053}"/>
              </a:ext>
            </a:extLst>
          </p:cNvPr>
          <p:cNvCxnSpPr>
            <a:cxnSpLocks/>
          </p:cNvCxnSpPr>
          <p:nvPr/>
        </p:nvCxnSpPr>
        <p:spPr>
          <a:xfrm>
            <a:off x="2798677" y="161398"/>
            <a:ext cx="0" cy="6696602"/>
          </a:xfrm>
          <a:prstGeom prst="line">
            <a:avLst/>
          </a:prstGeom>
        </p:spPr>
        <p:style>
          <a:lnRef idx="3">
            <a:schemeClr val="dk1"/>
          </a:lnRef>
          <a:fillRef idx="0">
            <a:schemeClr val="dk1"/>
          </a:fillRef>
          <a:effectRef idx="2">
            <a:schemeClr val="dk1"/>
          </a:effectRef>
          <a:fontRef idx="minor">
            <a:schemeClr val="tx1"/>
          </a:fontRef>
        </p:style>
      </p:cxnSp>
      <p:sp>
        <p:nvSpPr>
          <p:cNvPr id="16" name="TextBox 15">
            <a:extLst>
              <a:ext uri="{FF2B5EF4-FFF2-40B4-BE49-F238E27FC236}">
                <a16:creationId xmlns:a16="http://schemas.microsoft.com/office/drawing/2014/main" id="{12941002-8AFF-437B-A7E1-1F15261642EC}"/>
              </a:ext>
            </a:extLst>
          </p:cNvPr>
          <p:cNvSpPr txBox="1"/>
          <p:nvPr/>
        </p:nvSpPr>
        <p:spPr>
          <a:xfrm>
            <a:off x="2927956" y="163139"/>
            <a:ext cx="6096000" cy="584775"/>
          </a:xfrm>
          <a:prstGeom prst="rect">
            <a:avLst/>
          </a:prstGeom>
          <a:noFill/>
        </p:spPr>
        <p:txBody>
          <a:bodyPr wrap="square">
            <a:spAutoFit/>
          </a:bodyPr>
          <a:lstStyle/>
          <a:p>
            <a:r>
              <a:rPr lang="en-US" sz="3200" b="1" u="sng" dirty="0">
                <a:latin typeface="Times New Roman" panose="02020603050405020304" pitchFamily="18" charset="0"/>
                <a:cs typeface="Times New Roman" panose="02020603050405020304" pitchFamily="18" charset="0"/>
              </a:rPr>
              <a:t>Networking:</a:t>
            </a:r>
            <a:endParaRPr lang="en-IN" sz="3200" b="1" u="sng"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B33E5824-342F-495E-A76F-C8F7EDA4FC46}"/>
              </a:ext>
            </a:extLst>
          </p:cNvPr>
          <p:cNvSpPr txBox="1"/>
          <p:nvPr/>
        </p:nvSpPr>
        <p:spPr>
          <a:xfrm>
            <a:off x="3075191" y="652131"/>
            <a:ext cx="8841036" cy="2795958"/>
          </a:xfrm>
          <a:prstGeom prst="rect">
            <a:avLst/>
          </a:prstGeom>
          <a:noFill/>
        </p:spPr>
        <p:txBody>
          <a:bodyPr wrap="square">
            <a:spAutoFit/>
          </a:bodyPr>
          <a:lstStyle/>
          <a:p>
            <a:pPr algn="just">
              <a:lnSpc>
                <a:spcPct val="150000"/>
              </a:lnSpc>
            </a:pPr>
            <a:r>
              <a:rPr lang="en-US" sz="2400" i="0" dirty="0">
                <a:effectLst/>
                <a:latin typeface="Times New Roman" panose="02020603050405020304" pitchFamily="18" charset="0"/>
                <a:cs typeface="Times New Roman" panose="02020603050405020304" pitchFamily="18" charset="0"/>
              </a:rPr>
              <a:t>Networking is the process of connecting two or more computers or devices to communicate and share data and resources.</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share data and information</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share resources(printers, files, internet)</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enable communication between devices</a:t>
            </a:r>
            <a:r>
              <a:rPr lang="en-US" sz="2400" b="1" dirty="0">
                <a:latin typeface="Times New Roman" panose="02020603050405020304" pitchFamily="18" charset="0"/>
                <a:cs typeface="Times New Roman" panose="02020603050405020304" pitchFamily="18" charset="0"/>
              </a:rPr>
              <a:t>.</a:t>
            </a:r>
            <a:endParaRPr lang="en-IN" sz="2400"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0FC7E9E4-55FE-4E8C-AD57-C5967DB0964C}"/>
              </a:ext>
            </a:extLst>
          </p:cNvPr>
          <p:cNvPicPr>
            <a:picLocks noChangeAspect="1"/>
          </p:cNvPicPr>
          <p:nvPr/>
        </p:nvPicPr>
        <p:blipFill>
          <a:blip r:embed="rId3"/>
          <a:stretch>
            <a:fillRect/>
          </a:stretch>
        </p:blipFill>
        <p:spPr>
          <a:xfrm>
            <a:off x="2927955" y="3429001"/>
            <a:ext cx="8841027" cy="3429000"/>
          </a:xfrm>
          <a:prstGeom prst="rect">
            <a:avLst/>
          </a:prstGeom>
        </p:spPr>
      </p:pic>
      <p:sp>
        <p:nvSpPr>
          <p:cNvPr id="11" name="TextBox 10">
            <a:extLst>
              <a:ext uri="{FF2B5EF4-FFF2-40B4-BE49-F238E27FC236}">
                <a16:creationId xmlns:a16="http://schemas.microsoft.com/office/drawing/2014/main" id="{7D999B5D-5416-49A9-94B1-9DA01619F32A}"/>
              </a:ext>
            </a:extLst>
          </p:cNvPr>
          <p:cNvSpPr txBox="1"/>
          <p:nvPr/>
        </p:nvSpPr>
        <p:spPr>
          <a:xfrm>
            <a:off x="0" y="4696158"/>
            <a:ext cx="2483299"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Layers</a:t>
            </a:r>
            <a:endParaRPr lang="en-IN" sz="2400" b="1" dirty="0">
              <a:solidFill>
                <a:schemeClr val="accent6"/>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8379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C968608-AC9A-4F93-81AD-88BBF6FDC252}"/>
              </a:ext>
            </a:extLst>
          </p:cNvPr>
          <p:cNvSpPr txBox="1"/>
          <p:nvPr/>
        </p:nvSpPr>
        <p:spPr>
          <a:xfrm>
            <a:off x="-10683" y="1859141"/>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Introduction</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48EDB188-5758-4ADD-AAA5-CFCB9258BA29}"/>
              </a:ext>
            </a:extLst>
          </p:cNvPr>
          <p:cNvSpPr txBox="1"/>
          <p:nvPr/>
        </p:nvSpPr>
        <p:spPr>
          <a:xfrm>
            <a:off x="226027" y="2491055"/>
            <a:ext cx="454297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Types of Network</a:t>
            </a:r>
            <a:endParaRPr lang="en-IN" sz="24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464DECD-3C3F-4A7E-9676-4AC57D2B76B4}"/>
              </a:ext>
            </a:extLst>
          </p:cNvPr>
          <p:cNvSpPr txBox="1"/>
          <p:nvPr/>
        </p:nvSpPr>
        <p:spPr>
          <a:xfrm>
            <a:off x="0" y="3141661"/>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Network Topologies</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28D0C966-B21C-4024-A3DB-9100C3ED4FCA}"/>
              </a:ext>
            </a:extLst>
          </p:cNvPr>
          <p:cNvSpPr txBox="1"/>
          <p:nvPr/>
        </p:nvSpPr>
        <p:spPr>
          <a:xfrm>
            <a:off x="-10683" y="3688275"/>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Network Devices</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B8B5216A-62E5-4894-97F6-24CEA64DE922}"/>
              </a:ext>
            </a:extLst>
          </p:cNvPr>
          <p:cNvSpPr txBox="1"/>
          <p:nvPr/>
        </p:nvSpPr>
        <p:spPr>
          <a:xfrm>
            <a:off x="-10683" y="4714365"/>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Real-Life Uses</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42259DF4-AC5A-4C8D-B877-7F193462D5DF}"/>
              </a:ext>
            </a:extLst>
          </p:cNvPr>
          <p:cNvSpPr txBox="1"/>
          <p:nvPr/>
        </p:nvSpPr>
        <p:spPr>
          <a:xfrm>
            <a:off x="-10683" y="5206765"/>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Summary</a:t>
            </a:r>
            <a:endParaRPr lang="en-IN" sz="3200" b="1" dirty="0">
              <a:solidFill>
                <a:schemeClr val="accent6"/>
              </a:solidFill>
              <a:latin typeface="Times New Roman" panose="02020603050405020304" pitchFamily="18" charset="0"/>
              <a:cs typeface="Times New Roman" panose="02020603050405020304" pitchFamily="18" charset="0"/>
            </a:endParaRPr>
          </a:p>
        </p:txBody>
      </p:sp>
      <p:sp>
        <p:nvSpPr>
          <p:cNvPr id="10" name="Isosceles Triangle 9">
            <a:extLst>
              <a:ext uri="{FF2B5EF4-FFF2-40B4-BE49-F238E27FC236}">
                <a16:creationId xmlns:a16="http://schemas.microsoft.com/office/drawing/2014/main" id="{17030408-AF64-4E72-A471-E831EBE2FF76}"/>
              </a:ext>
            </a:extLst>
          </p:cNvPr>
          <p:cNvSpPr/>
          <p:nvPr/>
        </p:nvSpPr>
        <p:spPr>
          <a:xfrm rot="5400000">
            <a:off x="-67891" y="2575896"/>
            <a:ext cx="476250" cy="314781"/>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1" name="Straight Connector 10">
            <a:extLst>
              <a:ext uri="{FF2B5EF4-FFF2-40B4-BE49-F238E27FC236}">
                <a16:creationId xmlns:a16="http://schemas.microsoft.com/office/drawing/2014/main" id="{822CC848-52D5-4B32-9D66-8C86011C86E8}"/>
              </a:ext>
            </a:extLst>
          </p:cNvPr>
          <p:cNvCxnSpPr>
            <a:cxnSpLocks/>
          </p:cNvCxnSpPr>
          <p:nvPr/>
        </p:nvCxnSpPr>
        <p:spPr>
          <a:xfrm>
            <a:off x="2804301" y="0"/>
            <a:ext cx="0" cy="6858000"/>
          </a:xfrm>
          <a:prstGeom prst="line">
            <a:avLst/>
          </a:prstGeom>
        </p:spPr>
        <p:style>
          <a:lnRef idx="3">
            <a:schemeClr val="dk1"/>
          </a:lnRef>
          <a:fillRef idx="0">
            <a:schemeClr val="dk1"/>
          </a:fillRef>
          <a:effectRef idx="2">
            <a:schemeClr val="dk1"/>
          </a:effectRef>
          <a:fontRef idx="minor">
            <a:schemeClr val="tx1"/>
          </a:fontRef>
        </p:style>
      </p:cxnSp>
      <p:sp>
        <p:nvSpPr>
          <p:cNvPr id="12" name="TextBox 11">
            <a:extLst>
              <a:ext uri="{FF2B5EF4-FFF2-40B4-BE49-F238E27FC236}">
                <a16:creationId xmlns:a16="http://schemas.microsoft.com/office/drawing/2014/main" id="{FEEFB7BB-139B-4CDA-8861-CA86289E3CAA}"/>
              </a:ext>
            </a:extLst>
          </p:cNvPr>
          <p:cNvSpPr txBox="1"/>
          <p:nvPr/>
        </p:nvSpPr>
        <p:spPr>
          <a:xfrm>
            <a:off x="2804301" y="128515"/>
            <a:ext cx="6102350" cy="584775"/>
          </a:xfrm>
          <a:prstGeom prst="rect">
            <a:avLst/>
          </a:prstGeom>
          <a:noFill/>
        </p:spPr>
        <p:txBody>
          <a:bodyPr wrap="square">
            <a:spAutoFit/>
          </a:bodyPr>
          <a:lstStyle/>
          <a:p>
            <a:pPr fontAlgn="base"/>
            <a:r>
              <a:rPr lang="en-IN" sz="3200" b="1" i="0" u="sng" dirty="0">
                <a:effectLst/>
                <a:latin typeface="Times New Roman" panose="02020603050405020304" pitchFamily="18" charset="0"/>
                <a:cs typeface="Times New Roman" panose="02020603050405020304" pitchFamily="18" charset="0"/>
              </a:rPr>
              <a:t>Types of Computer Networks:</a:t>
            </a:r>
          </a:p>
        </p:txBody>
      </p:sp>
      <p:sp>
        <p:nvSpPr>
          <p:cNvPr id="13" name="TextBox 12">
            <a:extLst>
              <a:ext uri="{FF2B5EF4-FFF2-40B4-BE49-F238E27FC236}">
                <a16:creationId xmlns:a16="http://schemas.microsoft.com/office/drawing/2014/main" id="{BFA4F5E5-CB89-4AD3-AC20-2DAF442C1526}"/>
              </a:ext>
            </a:extLst>
          </p:cNvPr>
          <p:cNvSpPr txBox="1"/>
          <p:nvPr/>
        </p:nvSpPr>
        <p:spPr>
          <a:xfrm>
            <a:off x="2876347" y="651042"/>
            <a:ext cx="9302809" cy="2241960"/>
          </a:xfrm>
          <a:prstGeom prst="rect">
            <a:avLst/>
          </a:prstGeom>
          <a:noFill/>
        </p:spPr>
        <p:txBody>
          <a:bodyPr wrap="square">
            <a:spAutoFit/>
          </a:bodyPr>
          <a:lstStyle/>
          <a:p>
            <a:pPr algn="just">
              <a:lnSpc>
                <a:spcPct val="150000"/>
              </a:lnSpc>
            </a:pPr>
            <a:r>
              <a:rPr lang="en-US" sz="2400" b="0" i="0" dirty="0">
                <a:effectLst/>
                <a:latin typeface="Times New Roman" panose="02020603050405020304" pitchFamily="18" charset="0"/>
                <a:cs typeface="Times New Roman" panose="02020603050405020304" pitchFamily="18" charset="0"/>
              </a:rPr>
              <a:t>Types of networking are primarily categorized by geographical area and purpose, with the most common being </a:t>
            </a:r>
            <a:r>
              <a:rPr lang="en-US" sz="2400" b="1" dirty="0">
                <a:effectLst/>
                <a:latin typeface="Times New Roman" panose="02020603050405020304" pitchFamily="18" charset="0"/>
                <a:cs typeface="Times New Roman" panose="02020603050405020304" pitchFamily="18" charset="0"/>
              </a:rPr>
              <a:t>LAN</a:t>
            </a:r>
            <a:r>
              <a:rPr lang="en-US" sz="2400" dirty="0">
                <a:latin typeface="Times New Roman" panose="02020603050405020304" pitchFamily="18" charset="0"/>
                <a:cs typeface="Times New Roman" panose="02020603050405020304" pitchFamily="18" charset="0"/>
              </a:rPr>
              <a:t> (Local Area Network - office/home), </a:t>
            </a:r>
            <a:r>
              <a:rPr lang="en-US" sz="2400" b="1" dirty="0">
                <a:effectLst/>
                <a:latin typeface="Times New Roman" panose="02020603050405020304" pitchFamily="18" charset="0"/>
                <a:cs typeface="Times New Roman" panose="02020603050405020304" pitchFamily="18" charset="0"/>
              </a:rPr>
              <a:t>MAN</a:t>
            </a:r>
            <a:r>
              <a:rPr lang="en-US" sz="2400" dirty="0">
                <a:latin typeface="Times New Roman" panose="02020603050405020304" pitchFamily="18" charset="0"/>
                <a:cs typeface="Times New Roman" panose="02020603050405020304" pitchFamily="18" charset="0"/>
              </a:rPr>
              <a:t> (Metropolitan Area Network - city-wide), and </a:t>
            </a:r>
            <a:r>
              <a:rPr lang="en-US" sz="2400" b="1" dirty="0">
                <a:effectLst/>
                <a:latin typeface="Times New Roman" panose="02020603050405020304" pitchFamily="18" charset="0"/>
                <a:cs typeface="Times New Roman" panose="02020603050405020304" pitchFamily="18" charset="0"/>
              </a:rPr>
              <a:t>WAN</a:t>
            </a:r>
            <a:r>
              <a:rPr lang="en-US" sz="2400" dirty="0">
                <a:latin typeface="Times New Roman" panose="02020603050405020304" pitchFamily="18" charset="0"/>
                <a:cs typeface="Times New Roman" panose="02020603050405020304" pitchFamily="18" charset="0"/>
              </a:rPr>
              <a:t> (Wide Area Network - global/country-wide).</a:t>
            </a:r>
            <a:endParaRPr lang="en-IN" sz="2400" dirty="0">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694F4868-4D5D-435A-8286-2A5B97938914}"/>
              </a:ext>
            </a:extLst>
          </p:cNvPr>
          <p:cNvPicPr>
            <a:picLocks noChangeAspect="1"/>
          </p:cNvPicPr>
          <p:nvPr/>
        </p:nvPicPr>
        <p:blipFill>
          <a:blip r:embed="rId2"/>
          <a:stretch>
            <a:fillRect/>
          </a:stretch>
        </p:blipFill>
        <p:spPr>
          <a:xfrm>
            <a:off x="3142608" y="2893002"/>
            <a:ext cx="8823357" cy="3657421"/>
          </a:xfrm>
          <a:prstGeom prst="rect">
            <a:avLst/>
          </a:prstGeom>
        </p:spPr>
      </p:pic>
      <p:sp>
        <p:nvSpPr>
          <p:cNvPr id="3" name="TextBox 2">
            <a:extLst>
              <a:ext uri="{FF2B5EF4-FFF2-40B4-BE49-F238E27FC236}">
                <a16:creationId xmlns:a16="http://schemas.microsoft.com/office/drawing/2014/main" id="{0859CED4-3B41-4DD2-9BFA-353CBC6DBC8F}"/>
              </a:ext>
            </a:extLst>
          </p:cNvPr>
          <p:cNvSpPr txBox="1"/>
          <p:nvPr/>
        </p:nvSpPr>
        <p:spPr>
          <a:xfrm>
            <a:off x="-2879" y="4196194"/>
            <a:ext cx="250039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Layers</a:t>
            </a:r>
            <a:endParaRPr lang="en-IN" sz="3200" b="1" dirty="0">
              <a:solidFill>
                <a:schemeClr val="accent6"/>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62931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822CC848-52D5-4B32-9D66-8C86011C86E8}"/>
              </a:ext>
            </a:extLst>
          </p:cNvPr>
          <p:cNvCxnSpPr>
            <a:cxnSpLocks/>
          </p:cNvCxnSpPr>
          <p:nvPr/>
        </p:nvCxnSpPr>
        <p:spPr>
          <a:xfrm>
            <a:off x="2847843" y="102219"/>
            <a:ext cx="0" cy="6653561"/>
          </a:xfrm>
          <a:prstGeom prst="line">
            <a:avLst/>
          </a:prstGeom>
        </p:spPr>
        <p:style>
          <a:lnRef idx="3">
            <a:schemeClr val="dk1"/>
          </a:lnRef>
          <a:fillRef idx="0">
            <a:schemeClr val="dk1"/>
          </a:fillRef>
          <a:effectRef idx="2">
            <a:schemeClr val="dk1"/>
          </a:effectRef>
          <a:fontRef idx="minor">
            <a:schemeClr val="tx1"/>
          </a:fontRef>
        </p:style>
      </p:cxnSp>
      <p:sp>
        <p:nvSpPr>
          <p:cNvPr id="15" name="TextBox 14">
            <a:extLst>
              <a:ext uri="{FF2B5EF4-FFF2-40B4-BE49-F238E27FC236}">
                <a16:creationId xmlns:a16="http://schemas.microsoft.com/office/drawing/2014/main" id="{6C568600-D72D-4D00-9235-47E7F22C49B0}"/>
              </a:ext>
            </a:extLst>
          </p:cNvPr>
          <p:cNvSpPr txBox="1"/>
          <p:nvPr/>
        </p:nvSpPr>
        <p:spPr>
          <a:xfrm>
            <a:off x="2847843" y="-86696"/>
            <a:ext cx="9201034" cy="4457952"/>
          </a:xfrm>
          <a:prstGeom prst="rect">
            <a:avLst/>
          </a:prstGeom>
          <a:noFill/>
        </p:spPr>
        <p:txBody>
          <a:bodyPr wrap="square">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800" b="1" i="0" u="sng" strike="noStrike" cap="none" normalizeH="0" baseline="0" dirty="0">
                <a:ln>
                  <a:noFill/>
                </a:ln>
                <a:effectLst/>
                <a:latin typeface="Times New Roman" panose="02020603050405020304" pitchFamily="18" charset="0"/>
                <a:cs typeface="Times New Roman" panose="02020603050405020304" pitchFamily="18" charset="0"/>
              </a:rPr>
              <a:t>1)Local Area Network (LAN):</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A Local Area Network (LAN) connects computers and devices within a small geographical area such as home, school, or </a:t>
            </a:r>
            <a:r>
              <a:rPr lang="en-US" altLang="en-US" sz="2000" dirty="0">
                <a:latin typeface="Times New Roman" panose="02020603050405020304" pitchFamily="18" charset="0"/>
                <a:cs typeface="Times New Roman" panose="02020603050405020304" pitchFamily="18" charset="0"/>
              </a:rPr>
              <a:t>office.</a:t>
            </a:r>
            <a:endPar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It provides high-speed data transfer and is low in cost because it covers a limited area.</a:t>
            </a:r>
            <a:endPar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Examples of LAN:</a:t>
            </a:r>
            <a:r>
              <a:rPr lang="en-US" altLang="en-US" sz="2000" dirty="0">
                <a:latin typeface="Times New Roman" panose="02020603050405020304" pitchFamily="18" charset="0"/>
                <a:cs typeface="Times New Roman" panose="02020603050405020304" pitchFamily="18" charset="0"/>
              </a:rPr>
              <a:t>	</a:t>
            </a:r>
          </a:p>
          <a:p>
            <a:pPr marL="1257300" lvl="2" indent="-342900" algn="just" defTabSz="914400">
              <a:lnSpc>
                <a:spcPct val="150000"/>
              </a:lnSpc>
              <a:buFont typeface="Wingdings" panose="05000000000000000000" pitchFamily="2" charset="2"/>
              <a:buChar char="§"/>
            </a:pPr>
            <a:r>
              <a:rPr lang="en-US" altLang="en-US" sz="2000" dirty="0">
                <a:latin typeface="Times New Roman" panose="02020603050405020304" pitchFamily="18" charset="0"/>
                <a:cs typeface="Times New Roman" panose="02020603050405020304" pitchFamily="18" charset="0"/>
              </a:rPr>
              <a:t>Wi-Fi network in a home or school</a:t>
            </a:r>
          </a:p>
          <a:p>
            <a:pPr marL="1257300" lvl="2" indent="-342900" algn="just" defTabSz="914400">
              <a:lnSpc>
                <a:spcPct val="150000"/>
              </a:lnSpc>
              <a:buFont typeface="Wingdings" panose="05000000000000000000" pitchFamily="2" charset="2"/>
              <a:buChar char="§"/>
            </a:pP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Wired ne</a:t>
            </a:r>
            <a:r>
              <a:rPr lang="en-US" altLang="en-US" sz="2000" dirty="0">
                <a:latin typeface="Times New Roman" panose="02020603050405020304" pitchFamily="18" charset="0"/>
                <a:cs typeface="Times New Roman" panose="02020603050405020304" pitchFamily="18" charset="0"/>
              </a:rPr>
              <a:t>twork in an office or computer lab</a:t>
            </a:r>
            <a:endPar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endParaRPr>
          </a:p>
          <a:p>
            <a:pPr lvl="3" algn="just" defTabSz="914400">
              <a:lnSpc>
                <a:spcPct val="150000"/>
              </a:lnSpc>
            </a:pPr>
            <a:r>
              <a:rPr lang="en-US" altLang="en-US" sz="2400" dirty="0">
                <a:latin typeface="Times New Roman" panose="02020603050405020304" pitchFamily="18" charset="0"/>
                <a:cs typeface="Times New Roman" panose="02020603050405020304" pitchFamily="18" charset="0"/>
              </a:rPr>
              <a:t>            </a:t>
            </a:r>
            <a:endPar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0FE460C-3737-4F00-B4D6-B7EC7DA891C9}"/>
              </a:ext>
            </a:extLst>
          </p:cNvPr>
          <p:cNvPicPr>
            <a:picLocks noChangeAspect="1"/>
          </p:cNvPicPr>
          <p:nvPr/>
        </p:nvPicPr>
        <p:blipFill>
          <a:blip r:embed="rId2"/>
          <a:stretch>
            <a:fillRect/>
          </a:stretch>
        </p:blipFill>
        <p:spPr>
          <a:xfrm>
            <a:off x="2967439" y="3774928"/>
            <a:ext cx="8803647" cy="2984871"/>
          </a:xfrm>
          <a:prstGeom prst="rect">
            <a:avLst/>
          </a:prstGeom>
        </p:spPr>
      </p:pic>
      <p:sp>
        <p:nvSpPr>
          <p:cNvPr id="13" name="TextBox 12">
            <a:extLst>
              <a:ext uri="{FF2B5EF4-FFF2-40B4-BE49-F238E27FC236}">
                <a16:creationId xmlns:a16="http://schemas.microsoft.com/office/drawing/2014/main" id="{7C2D3037-BC59-4976-893B-47DD9BC83F50}"/>
              </a:ext>
            </a:extLst>
          </p:cNvPr>
          <p:cNvSpPr txBox="1"/>
          <p:nvPr/>
        </p:nvSpPr>
        <p:spPr>
          <a:xfrm>
            <a:off x="10683" y="3143016"/>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Network Topologies</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93D145B4-EA7C-4781-94EA-05CEF0A49D1E}"/>
              </a:ext>
            </a:extLst>
          </p:cNvPr>
          <p:cNvSpPr txBox="1"/>
          <p:nvPr/>
        </p:nvSpPr>
        <p:spPr>
          <a:xfrm>
            <a:off x="0" y="3689630"/>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Network Devices</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877D1038-E9C6-4CCE-9212-8297677ED9ED}"/>
              </a:ext>
            </a:extLst>
          </p:cNvPr>
          <p:cNvSpPr txBox="1"/>
          <p:nvPr/>
        </p:nvSpPr>
        <p:spPr>
          <a:xfrm>
            <a:off x="0" y="4715720"/>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Real-Life Uses</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7AC59A92-53C6-42D1-BC77-FEA2C0150758}"/>
              </a:ext>
            </a:extLst>
          </p:cNvPr>
          <p:cNvSpPr txBox="1"/>
          <p:nvPr/>
        </p:nvSpPr>
        <p:spPr>
          <a:xfrm>
            <a:off x="0" y="5208120"/>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Summary</a:t>
            </a:r>
            <a:endParaRPr lang="en-IN" sz="3200" b="1" dirty="0">
              <a:solidFill>
                <a:schemeClr val="accent6"/>
              </a:solidFill>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B6F4C132-CB92-4C1E-98B2-474D463E7698}"/>
              </a:ext>
            </a:extLst>
          </p:cNvPr>
          <p:cNvSpPr txBox="1"/>
          <p:nvPr/>
        </p:nvSpPr>
        <p:spPr>
          <a:xfrm>
            <a:off x="7804" y="4197549"/>
            <a:ext cx="250039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Layers</a:t>
            </a:r>
            <a:endParaRPr lang="en-IN" sz="3200" b="1" dirty="0">
              <a:solidFill>
                <a:schemeClr val="accent6"/>
              </a:solidFill>
              <a:latin typeface="Times New Roman" panose="02020603050405020304" pitchFamily="18" charset="0"/>
              <a:cs typeface="Times New Roman" panose="02020603050405020304" pitchFamily="18" charset="0"/>
            </a:endParaRPr>
          </a:p>
        </p:txBody>
      </p:sp>
      <p:sp>
        <p:nvSpPr>
          <p:cNvPr id="24" name="Isosceles Triangle 23">
            <a:extLst>
              <a:ext uri="{FF2B5EF4-FFF2-40B4-BE49-F238E27FC236}">
                <a16:creationId xmlns:a16="http://schemas.microsoft.com/office/drawing/2014/main" id="{63D10C2E-CCA6-4C12-A50F-B39CE94EAEC1}"/>
              </a:ext>
            </a:extLst>
          </p:cNvPr>
          <p:cNvSpPr/>
          <p:nvPr/>
        </p:nvSpPr>
        <p:spPr>
          <a:xfrm rot="5400000">
            <a:off x="-57208" y="2577252"/>
            <a:ext cx="476250" cy="314781"/>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TextBox 24">
            <a:extLst>
              <a:ext uri="{FF2B5EF4-FFF2-40B4-BE49-F238E27FC236}">
                <a16:creationId xmlns:a16="http://schemas.microsoft.com/office/drawing/2014/main" id="{EC8EA0EF-8587-4EE4-939B-367282E8BA63}"/>
              </a:ext>
            </a:extLst>
          </p:cNvPr>
          <p:cNvSpPr txBox="1"/>
          <p:nvPr/>
        </p:nvSpPr>
        <p:spPr>
          <a:xfrm>
            <a:off x="0" y="1857284"/>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Introduction</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651F3CF4-F06A-4AE4-8147-0D9C8DD8763C}"/>
              </a:ext>
            </a:extLst>
          </p:cNvPr>
          <p:cNvSpPr txBox="1"/>
          <p:nvPr/>
        </p:nvSpPr>
        <p:spPr>
          <a:xfrm>
            <a:off x="236710" y="2489198"/>
            <a:ext cx="454297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Types of Network</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057838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822CC848-52D5-4B32-9D66-8C86011C86E8}"/>
              </a:ext>
            </a:extLst>
          </p:cNvPr>
          <p:cNvCxnSpPr>
            <a:cxnSpLocks/>
          </p:cNvCxnSpPr>
          <p:nvPr/>
        </p:nvCxnSpPr>
        <p:spPr>
          <a:xfrm>
            <a:off x="2804300" y="10827"/>
            <a:ext cx="0" cy="6678495"/>
          </a:xfrm>
          <a:prstGeom prst="line">
            <a:avLst/>
          </a:prstGeom>
        </p:spPr>
        <p:style>
          <a:lnRef idx="3">
            <a:schemeClr val="dk1"/>
          </a:lnRef>
          <a:fillRef idx="0">
            <a:schemeClr val="dk1"/>
          </a:fillRef>
          <a:effectRef idx="2">
            <a:schemeClr val="dk1"/>
          </a:effectRef>
          <a:fontRef idx="minor">
            <a:schemeClr val="tx1"/>
          </a:fontRef>
        </p:style>
      </p:cxnSp>
      <p:sp>
        <p:nvSpPr>
          <p:cNvPr id="12" name="TextBox 11">
            <a:extLst>
              <a:ext uri="{FF2B5EF4-FFF2-40B4-BE49-F238E27FC236}">
                <a16:creationId xmlns:a16="http://schemas.microsoft.com/office/drawing/2014/main" id="{AD5CF8E6-3941-4BEF-8722-7F11BAEA3D11}"/>
              </a:ext>
            </a:extLst>
          </p:cNvPr>
          <p:cNvSpPr txBox="1"/>
          <p:nvPr/>
        </p:nvSpPr>
        <p:spPr>
          <a:xfrm>
            <a:off x="2987245" y="10827"/>
            <a:ext cx="9194072" cy="3699539"/>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800" b="1" i="0" u="sng" strike="noStrike" cap="none" normalizeH="0" baseline="0" dirty="0">
                <a:ln>
                  <a:noFill/>
                </a:ln>
                <a:effectLst/>
                <a:latin typeface="Times New Roman" panose="02020603050405020304" pitchFamily="18" charset="0"/>
                <a:cs typeface="Times New Roman" panose="02020603050405020304" pitchFamily="18" charset="0"/>
              </a:rPr>
              <a:t>2)Metropolitan Area Network (MAN) :</a:t>
            </a:r>
          </a:p>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i="0" strike="noStrike" cap="none" normalizeH="0" baseline="0" dirty="0">
                <a:ln>
                  <a:noFill/>
                </a:ln>
                <a:effectLst/>
                <a:latin typeface="Times New Roman" panose="02020603050405020304" pitchFamily="18" charset="0"/>
                <a:cs typeface="Times New Roman" panose="02020603050405020304" pitchFamily="18" charset="0"/>
              </a:rPr>
              <a:t>A Metropolitan Area Network Connects computers and devices across a city or large town.</a:t>
            </a:r>
          </a:p>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altLang="en-US" sz="2000" dirty="0">
                <a:latin typeface="Times New Roman" panose="02020603050405020304" pitchFamily="18" charset="0"/>
                <a:cs typeface="Times New Roman" panose="02020603050405020304" pitchFamily="18" charset="0"/>
              </a:rPr>
              <a:t>It covers a larger area than LAN but smaller than WAN.</a:t>
            </a:r>
          </a:p>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altLang="en-US" sz="2000" dirty="0">
                <a:latin typeface="Times New Roman" panose="02020603050405020304" pitchFamily="18" charset="0"/>
                <a:cs typeface="Times New Roman" panose="02020603050405020304" pitchFamily="18" charset="0"/>
              </a:rPr>
              <a:t>Examples of MAN:</a:t>
            </a:r>
            <a:r>
              <a:rPr kumimoji="0" lang="en-US" altLang="en-US" sz="2000" i="0" strike="noStrike" cap="none" normalizeH="0" baseline="0" dirty="0">
                <a:ln>
                  <a:noFill/>
                </a:ln>
                <a:effectLst/>
                <a:latin typeface="Times New Roman" panose="02020603050405020304" pitchFamily="18" charset="0"/>
                <a:cs typeface="Times New Roman" panose="02020603050405020304" pitchFamily="18" charset="0"/>
              </a:rPr>
              <a:t> </a:t>
            </a:r>
          </a:p>
          <a:p>
            <a:pPr marL="1828800" lvl="3" indent="-457200" algn="just" defTabSz="914400">
              <a:lnSpc>
                <a:spcPct val="150000"/>
              </a:lnSpc>
              <a:buFont typeface="Wingdings" panose="05000000000000000000" pitchFamily="2" charset="2"/>
              <a:buChar char="§"/>
            </a:pPr>
            <a:r>
              <a:rPr lang="en-US" altLang="en-US" sz="2000" dirty="0">
                <a:latin typeface="Times New Roman" panose="02020603050405020304" pitchFamily="18" charset="0"/>
                <a:cs typeface="Times New Roman" panose="02020603050405020304" pitchFamily="18" charset="0"/>
              </a:rPr>
              <a:t>City-wide internet network</a:t>
            </a:r>
          </a:p>
          <a:p>
            <a:pPr marL="1828800" lvl="3" indent="-457200" algn="just" defTabSz="914400">
              <a:lnSpc>
                <a:spcPct val="150000"/>
              </a:lnSpc>
              <a:buFont typeface="Wingdings" panose="05000000000000000000" pitchFamily="2" charset="2"/>
              <a:buChar char="§"/>
            </a:pPr>
            <a:r>
              <a:rPr lang="en-US" altLang="en-US" sz="2000" dirty="0">
                <a:latin typeface="Times New Roman" panose="02020603050405020304" pitchFamily="18" charset="0"/>
                <a:cs typeface="Times New Roman" panose="02020603050405020304" pitchFamily="18" charset="0"/>
              </a:rPr>
              <a:t>Cable TV network</a:t>
            </a:r>
          </a:p>
          <a:p>
            <a:pPr marL="1828800" lvl="3" indent="-457200" algn="just" defTabSz="914400">
              <a:lnSpc>
                <a:spcPct val="150000"/>
              </a:lnSpc>
              <a:buFont typeface="Wingdings" panose="05000000000000000000" pitchFamily="2" charset="2"/>
              <a:buChar char="§"/>
            </a:pPr>
            <a:r>
              <a:rPr kumimoji="0" lang="en-US" altLang="en-US" sz="2000" i="0" strike="noStrike" cap="none" normalizeH="0" baseline="0" dirty="0">
                <a:ln>
                  <a:noFill/>
                </a:ln>
                <a:effectLst/>
                <a:latin typeface="Times New Roman" panose="02020603050405020304" pitchFamily="18" charset="0"/>
                <a:cs typeface="Times New Roman" panose="02020603050405020304" pitchFamily="18" charset="0"/>
              </a:rPr>
              <a:t>University c</a:t>
            </a:r>
            <a:r>
              <a:rPr lang="en-US" altLang="en-US" sz="2000" dirty="0">
                <a:latin typeface="Times New Roman" panose="02020603050405020304" pitchFamily="18" charset="0"/>
                <a:cs typeface="Times New Roman" panose="02020603050405020304" pitchFamily="18" charset="0"/>
              </a:rPr>
              <a:t>ampus network</a:t>
            </a:r>
            <a:endParaRPr kumimoji="0" lang="en-US" altLang="en-US" sz="2000" i="0" strike="noStrike" cap="none" normalizeH="0" baseline="0" dirty="0">
              <a:ln>
                <a:noFill/>
              </a:ln>
              <a:effectLst/>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FCC1022C-5B03-4649-8FDD-6D6F6AA289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3773" y="3606359"/>
            <a:ext cx="8389255" cy="2994231"/>
          </a:xfrm>
          <a:prstGeom prst="rect">
            <a:avLst/>
          </a:prstGeom>
        </p:spPr>
      </p:pic>
      <p:sp>
        <p:nvSpPr>
          <p:cNvPr id="14" name="TextBox 13">
            <a:extLst>
              <a:ext uri="{FF2B5EF4-FFF2-40B4-BE49-F238E27FC236}">
                <a16:creationId xmlns:a16="http://schemas.microsoft.com/office/drawing/2014/main" id="{5DECAA89-8E4D-4682-92F7-45524B7B6319}"/>
              </a:ext>
            </a:extLst>
          </p:cNvPr>
          <p:cNvSpPr txBox="1"/>
          <p:nvPr/>
        </p:nvSpPr>
        <p:spPr>
          <a:xfrm>
            <a:off x="10683" y="3144694"/>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Network Topologies</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8D617BED-BE47-46DA-AD38-50C24C2F4D7B}"/>
              </a:ext>
            </a:extLst>
          </p:cNvPr>
          <p:cNvSpPr txBox="1"/>
          <p:nvPr/>
        </p:nvSpPr>
        <p:spPr>
          <a:xfrm>
            <a:off x="0" y="3691308"/>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Network Devices</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83AE95EE-C53D-4954-BAF7-DDF4A4914B2A}"/>
              </a:ext>
            </a:extLst>
          </p:cNvPr>
          <p:cNvSpPr txBox="1"/>
          <p:nvPr/>
        </p:nvSpPr>
        <p:spPr>
          <a:xfrm>
            <a:off x="0" y="4717398"/>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Real-Life Uses</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FF063142-1F86-455A-8320-FDEAD1459796}"/>
              </a:ext>
            </a:extLst>
          </p:cNvPr>
          <p:cNvSpPr txBox="1"/>
          <p:nvPr/>
        </p:nvSpPr>
        <p:spPr>
          <a:xfrm>
            <a:off x="0" y="5209798"/>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Summary</a:t>
            </a:r>
            <a:endParaRPr lang="en-IN" sz="3200" b="1" dirty="0">
              <a:solidFill>
                <a:schemeClr val="accent6"/>
              </a:solidFill>
              <a:latin typeface="Times New Roman" panose="02020603050405020304" pitchFamily="18" charset="0"/>
              <a:cs typeface="Times New Roman" panose="02020603050405020304" pitchFamily="18" charset="0"/>
            </a:endParaRPr>
          </a:p>
        </p:txBody>
      </p:sp>
      <p:sp>
        <p:nvSpPr>
          <p:cNvPr id="18" name="Isosceles Triangle 17">
            <a:extLst>
              <a:ext uri="{FF2B5EF4-FFF2-40B4-BE49-F238E27FC236}">
                <a16:creationId xmlns:a16="http://schemas.microsoft.com/office/drawing/2014/main" id="{F60E8583-CB35-42C9-AD6F-685A3C96E084}"/>
              </a:ext>
            </a:extLst>
          </p:cNvPr>
          <p:cNvSpPr/>
          <p:nvPr/>
        </p:nvSpPr>
        <p:spPr>
          <a:xfrm rot="5400000">
            <a:off x="-57208" y="2578929"/>
            <a:ext cx="476250" cy="314781"/>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3356D42C-6ACB-4951-8026-E2E9CA7DF148}"/>
              </a:ext>
            </a:extLst>
          </p:cNvPr>
          <p:cNvSpPr txBox="1"/>
          <p:nvPr/>
        </p:nvSpPr>
        <p:spPr>
          <a:xfrm>
            <a:off x="7804" y="4199227"/>
            <a:ext cx="250039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Layers</a:t>
            </a:r>
            <a:endParaRPr lang="en-IN" sz="3200" b="1" dirty="0">
              <a:solidFill>
                <a:schemeClr val="accent6"/>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4228D65D-1699-4B41-9D58-65677CA7537C}"/>
              </a:ext>
            </a:extLst>
          </p:cNvPr>
          <p:cNvSpPr txBox="1"/>
          <p:nvPr/>
        </p:nvSpPr>
        <p:spPr>
          <a:xfrm>
            <a:off x="0" y="1824754"/>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Introduction</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AE676038-1FD3-490F-A0BB-34ECC62371C3}"/>
              </a:ext>
            </a:extLst>
          </p:cNvPr>
          <p:cNvSpPr txBox="1"/>
          <p:nvPr/>
        </p:nvSpPr>
        <p:spPr>
          <a:xfrm>
            <a:off x="236710" y="2490876"/>
            <a:ext cx="454297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Types of Network</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99246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822CC848-52D5-4B32-9D66-8C86011C86E8}"/>
              </a:ext>
            </a:extLst>
          </p:cNvPr>
          <p:cNvCxnSpPr>
            <a:cxnSpLocks/>
          </p:cNvCxnSpPr>
          <p:nvPr/>
        </p:nvCxnSpPr>
        <p:spPr>
          <a:xfrm>
            <a:off x="2804300" y="82550"/>
            <a:ext cx="0" cy="6692900"/>
          </a:xfrm>
          <a:prstGeom prst="line">
            <a:avLst/>
          </a:prstGeom>
        </p:spPr>
        <p:style>
          <a:lnRef idx="3">
            <a:schemeClr val="dk1"/>
          </a:lnRef>
          <a:fillRef idx="0">
            <a:schemeClr val="dk1"/>
          </a:fillRef>
          <a:effectRef idx="2">
            <a:schemeClr val="dk1"/>
          </a:effectRef>
          <a:fontRef idx="minor">
            <a:schemeClr val="tx1"/>
          </a:fontRef>
        </p:style>
      </p:cxnSp>
      <p:sp>
        <p:nvSpPr>
          <p:cNvPr id="12" name="TextBox 11">
            <a:extLst>
              <a:ext uri="{FF2B5EF4-FFF2-40B4-BE49-F238E27FC236}">
                <a16:creationId xmlns:a16="http://schemas.microsoft.com/office/drawing/2014/main" id="{D74E6C37-1FF6-414D-AAD7-E3D69CE5CD68}"/>
              </a:ext>
            </a:extLst>
          </p:cNvPr>
          <p:cNvSpPr txBox="1"/>
          <p:nvPr/>
        </p:nvSpPr>
        <p:spPr>
          <a:xfrm>
            <a:off x="2933428" y="82550"/>
            <a:ext cx="9247889" cy="3700437"/>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sng" strike="noStrike" cap="none" normalizeH="0" baseline="0" dirty="0">
                <a:ln>
                  <a:noFill/>
                </a:ln>
                <a:effectLst/>
                <a:latin typeface="Times New Roman" panose="02020603050405020304" pitchFamily="18" charset="0"/>
                <a:cs typeface="Times New Roman" panose="02020603050405020304" pitchFamily="18" charset="0"/>
              </a:rPr>
              <a:t>3)Wide Area Network (WAN):</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A Wide Area Network connects computers and networks over a large geogra</a:t>
            </a:r>
            <a:r>
              <a:rPr lang="en-US" altLang="en-US" sz="2000" dirty="0">
                <a:latin typeface="Times New Roman" panose="02020603050405020304" pitchFamily="18" charset="0"/>
                <a:cs typeface="Times New Roman" panose="02020603050405020304" pitchFamily="18" charset="0"/>
              </a:rPr>
              <a:t>phical area, such as countries or continents.</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It is used for long-distance communication and data sharing.</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Examples of WAN:</a:t>
            </a:r>
          </a:p>
          <a:p>
            <a:pPr marL="1943100" lvl="3" indent="-571500" algn="just" defTabSz="914400">
              <a:lnSpc>
                <a:spcPct val="150000"/>
              </a:lnSpc>
              <a:buFont typeface="Wingdings" panose="05000000000000000000" pitchFamily="2" charset="2"/>
              <a:buChar char="§"/>
            </a:pPr>
            <a:r>
              <a:rPr lang="en-US" altLang="en-US" sz="2000" dirty="0">
                <a:latin typeface="Times New Roman" panose="02020603050405020304" pitchFamily="18" charset="0"/>
                <a:cs typeface="Times New Roman" panose="02020603050405020304" pitchFamily="18" charset="0"/>
              </a:rPr>
              <a:t>Internet</a:t>
            </a:r>
          </a:p>
          <a:p>
            <a:pPr marL="1943100" lvl="3" indent="-571500" algn="just" defTabSz="914400">
              <a:lnSpc>
                <a:spcPct val="150000"/>
              </a:lnSpc>
              <a:buFont typeface="Wingdings" panose="05000000000000000000" pitchFamily="2" charset="2"/>
              <a:buChar char="§"/>
            </a:pP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Bank networks</a:t>
            </a:r>
          </a:p>
          <a:p>
            <a:pPr marL="1943100" lvl="3" indent="-571500" algn="just" defTabSz="914400">
              <a:lnSpc>
                <a:spcPct val="150000"/>
              </a:lnSpc>
              <a:buFont typeface="Wingdings" panose="05000000000000000000" pitchFamily="2" charset="2"/>
              <a:buChar char="§"/>
            </a:pPr>
            <a:r>
              <a:rPr lang="en-US" altLang="en-US" sz="2000" dirty="0">
                <a:latin typeface="Times New Roman" panose="02020603050405020304" pitchFamily="18" charset="0"/>
                <a:cs typeface="Times New Roman" panose="02020603050405020304" pitchFamily="18" charset="0"/>
              </a:rPr>
              <a:t>International company networks</a:t>
            </a:r>
            <a:endParaRPr lang="en-IN" sz="1600" dirty="0"/>
          </a:p>
        </p:txBody>
      </p:sp>
      <p:pic>
        <p:nvPicPr>
          <p:cNvPr id="16" name="Picture 15">
            <a:extLst>
              <a:ext uri="{FF2B5EF4-FFF2-40B4-BE49-F238E27FC236}">
                <a16:creationId xmlns:a16="http://schemas.microsoft.com/office/drawing/2014/main" id="{18EE20A7-7112-42EF-9F93-02A40B366C2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3425373" y="3773332"/>
            <a:ext cx="8360225" cy="2687837"/>
          </a:xfrm>
          <a:custGeom>
            <a:avLst/>
            <a:gdLst>
              <a:gd name="connsiteX0" fmla="*/ 0 w 5335657"/>
              <a:gd name="connsiteY0" fmla="*/ 0 h 2687837"/>
              <a:gd name="connsiteX1" fmla="*/ 1724176 w 5335657"/>
              <a:gd name="connsiteY1" fmla="*/ 0 h 2687837"/>
              <a:gd name="connsiteX2" fmla="*/ 1724176 w 5335657"/>
              <a:gd name="connsiteY2" fmla="*/ 523220 h 2687837"/>
              <a:gd name="connsiteX3" fmla="*/ 3324372 w 5335657"/>
              <a:gd name="connsiteY3" fmla="*/ 523220 h 2687837"/>
              <a:gd name="connsiteX4" fmla="*/ 3324372 w 5335657"/>
              <a:gd name="connsiteY4" fmla="*/ 0 h 2687837"/>
              <a:gd name="connsiteX5" fmla="*/ 5335657 w 5335657"/>
              <a:gd name="connsiteY5" fmla="*/ 0 h 2687837"/>
              <a:gd name="connsiteX6" fmla="*/ 5335657 w 5335657"/>
              <a:gd name="connsiteY6" fmla="*/ 2687837 h 2687837"/>
              <a:gd name="connsiteX7" fmla="*/ 0 w 5335657"/>
              <a:gd name="connsiteY7" fmla="*/ 2687837 h 268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35657" h="2687837">
                <a:moveTo>
                  <a:pt x="0" y="0"/>
                </a:moveTo>
                <a:lnTo>
                  <a:pt x="1724176" y="0"/>
                </a:lnTo>
                <a:lnTo>
                  <a:pt x="1724176" y="523220"/>
                </a:lnTo>
                <a:lnTo>
                  <a:pt x="3324372" y="523220"/>
                </a:lnTo>
                <a:lnTo>
                  <a:pt x="3324372" y="0"/>
                </a:lnTo>
                <a:lnTo>
                  <a:pt x="5335657" y="0"/>
                </a:lnTo>
                <a:lnTo>
                  <a:pt x="5335657" y="2687837"/>
                </a:lnTo>
                <a:lnTo>
                  <a:pt x="0" y="2687837"/>
                </a:lnTo>
                <a:close/>
              </a:path>
            </a:pathLst>
          </a:custGeom>
        </p:spPr>
      </p:pic>
      <p:sp>
        <p:nvSpPr>
          <p:cNvPr id="24" name="TextBox 23">
            <a:extLst>
              <a:ext uri="{FF2B5EF4-FFF2-40B4-BE49-F238E27FC236}">
                <a16:creationId xmlns:a16="http://schemas.microsoft.com/office/drawing/2014/main" id="{EC188E07-4C86-496D-BE96-8D87872C4D23}"/>
              </a:ext>
            </a:extLst>
          </p:cNvPr>
          <p:cNvSpPr txBox="1"/>
          <p:nvPr/>
        </p:nvSpPr>
        <p:spPr>
          <a:xfrm>
            <a:off x="10683" y="3126965"/>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Network Topologies</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4C290F3B-ADC1-44C7-87DE-2214A8C53EF4}"/>
              </a:ext>
            </a:extLst>
          </p:cNvPr>
          <p:cNvSpPr txBox="1"/>
          <p:nvPr/>
        </p:nvSpPr>
        <p:spPr>
          <a:xfrm>
            <a:off x="0" y="3673579"/>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Network Devices</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364AEF88-4CC6-4D42-A8C7-48AD6B8BB1F4}"/>
              </a:ext>
            </a:extLst>
          </p:cNvPr>
          <p:cNvSpPr txBox="1"/>
          <p:nvPr/>
        </p:nvSpPr>
        <p:spPr>
          <a:xfrm>
            <a:off x="0" y="4699669"/>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Real-Life Uses</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CE377AF4-825A-44CE-AF9C-CE1ECD813961}"/>
              </a:ext>
            </a:extLst>
          </p:cNvPr>
          <p:cNvSpPr txBox="1"/>
          <p:nvPr/>
        </p:nvSpPr>
        <p:spPr>
          <a:xfrm>
            <a:off x="0" y="5192069"/>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Summary</a:t>
            </a:r>
            <a:endParaRPr lang="en-IN" sz="3200" b="1" dirty="0">
              <a:solidFill>
                <a:schemeClr val="accent6"/>
              </a:solidFill>
              <a:latin typeface="Times New Roman" panose="02020603050405020304" pitchFamily="18" charset="0"/>
              <a:cs typeface="Times New Roman" panose="02020603050405020304" pitchFamily="18" charset="0"/>
            </a:endParaRPr>
          </a:p>
        </p:txBody>
      </p:sp>
      <p:sp>
        <p:nvSpPr>
          <p:cNvPr id="28" name="Isosceles Triangle 27">
            <a:extLst>
              <a:ext uri="{FF2B5EF4-FFF2-40B4-BE49-F238E27FC236}">
                <a16:creationId xmlns:a16="http://schemas.microsoft.com/office/drawing/2014/main" id="{364E5224-6E24-48FD-B1BF-8B6C54B6D28A}"/>
              </a:ext>
            </a:extLst>
          </p:cNvPr>
          <p:cNvSpPr/>
          <p:nvPr/>
        </p:nvSpPr>
        <p:spPr>
          <a:xfrm rot="5400000">
            <a:off x="-57208" y="2561200"/>
            <a:ext cx="476250" cy="314781"/>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TextBox 28">
            <a:extLst>
              <a:ext uri="{FF2B5EF4-FFF2-40B4-BE49-F238E27FC236}">
                <a16:creationId xmlns:a16="http://schemas.microsoft.com/office/drawing/2014/main" id="{9A095853-6763-4D01-AC55-03106B99B13D}"/>
              </a:ext>
            </a:extLst>
          </p:cNvPr>
          <p:cNvSpPr txBox="1"/>
          <p:nvPr/>
        </p:nvSpPr>
        <p:spPr>
          <a:xfrm>
            <a:off x="7804" y="4181498"/>
            <a:ext cx="250039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Layers</a:t>
            </a:r>
            <a:endParaRPr lang="en-IN" sz="3200" b="1" dirty="0">
              <a:solidFill>
                <a:schemeClr val="accent6"/>
              </a:solidFill>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6ED2E262-4763-4F12-8757-984F60D5EF07}"/>
              </a:ext>
            </a:extLst>
          </p:cNvPr>
          <p:cNvSpPr txBox="1"/>
          <p:nvPr/>
        </p:nvSpPr>
        <p:spPr>
          <a:xfrm>
            <a:off x="0" y="1841233"/>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Introduction</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31" name="TextBox 30">
            <a:extLst>
              <a:ext uri="{FF2B5EF4-FFF2-40B4-BE49-F238E27FC236}">
                <a16:creationId xmlns:a16="http://schemas.microsoft.com/office/drawing/2014/main" id="{AABAEEA5-6C7D-4ED0-A957-E09EB6B3B9EE}"/>
              </a:ext>
            </a:extLst>
          </p:cNvPr>
          <p:cNvSpPr txBox="1"/>
          <p:nvPr/>
        </p:nvSpPr>
        <p:spPr>
          <a:xfrm>
            <a:off x="236710" y="2473147"/>
            <a:ext cx="454297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Types of Network</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59405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F11B78A0-56BE-4EC4-9088-B8BD47B392EF}"/>
              </a:ext>
            </a:extLst>
          </p:cNvPr>
          <p:cNvCxnSpPr>
            <a:cxnSpLocks/>
          </p:cNvCxnSpPr>
          <p:nvPr/>
        </p:nvCxnSpPr>
        <p:spPr>
          <a:xfrm>
            <a:off x="2976658" y="0"/>
            <a:ext cx="0" cy="6858000"/>
          </a:xfrm>
          <a:prstGeom prst="line">
            <a:avLst/>
          </a:prstGeom>
        </p:spPr>
        <p:style>
          <a:lnRef idx="3">
            <a:schemeClr val="dk1"/>
          </a:lnRef>
          <a:fillRef idx="0">
            <a:schemeClr val="dk1"/>
          </a:fillRef>
          <a:effectRef idx="2">
            <a:schemeClr val="dk1"/>
          </a:effectRef>
          <a:fontRef idx="minor">
            <a:schemeClr val="tx1"/>
          </a:fontRef>
        </p:style>
      </p:cxnSp>
      <p:sp>
        <p:nvSpPr>
          <p:cNvPr id="14" name="TextBox 13">
            <a:extLst>
              <a:ext uri="{FF2B5EF4-FFF2-40B4-BE49-F238E27FC236}">
                <a16:creationId xmlns:a16="http://schemas.microsoft.com/office/drawing/2014/main" id="{150E2F03-DB65-4E91-8196-B2E187685827}"/>
              </a:ext>
            </a:extLst>
          </p:cNvPr>
          <p:cNvSpPr txBox="1"/>
          <p:nvPr/>
        </p:nvSpPr>
        <p:spPr>
          <a:xfrm>
            <a:off x="3048000" y="64989"/>
            <a:ext cx="6096000" cy="523220"/>
          </a:xfrm>
          <a:prstGeom prst="rect">
            <a:avLst/>
          </a:prstGeom>
          <a:noFill/>
        </p:spPr>
        <p:txBody>
          <a:bodyPr wrap="square">
            <a:spAutoFit/>
          </a:bodyPr>
          <a:lstStyle/>
          <a:p>
            <a:r>
              <a:rPr lang="en-US" sz="2800" b="1" u="sng" dirty="0">
                <a:latin typeface="Times New Roman" panose="02020603050405020304" pitchFamily="18" charset="0"/>
                <a:cs typeface="Times New Roman" panose="02020603050405020304" pitchFamily="18" charset="0"/>
              </a:rPr>
              <a:t>Network Topologies:</a:t>
            </a:r>
            <a:endParaRPr lang="en-IN" sz="2800" b="1" u="sng"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DBED612C-6A08-4F1D-B449-0F8B621F2F49}"/>
              </a:ext>
            </a:extLst>
          </p:cNvPr>
          <p:cNvSpPr txBox="1"/>
          <p:nvPr/>
        </p:nvSpPr>
        <p:spPr>
          <a:xfrm>
            <a:off x="3078256" y="630699"/>
            <a:ext cx="9113744" cy="2796984"/>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Network topology is the physical or logical layout of a network</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It shows how devices are connected and how data flows</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Choosing the right topology improves performance and reliability</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Allows the network to grow easily by adding more devices without major changes.</a:t>
            </a:r>
            <a:endParaRPr lang="en-IN" sz="2400"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FB908C8C-F131-4658-9309-CA6525B6A072}"/>
              </a:ext>
            </a:extLst>
          </p:cNvPr>
          <p:cNvPicPr>
            <a:picLocks noChangeAspect="1"/>
          </p:cNvPicPr>
          <p:nvPr/>
        </p:nvPicPr>
        <p:blipFill rotWithShape="1">
          <a:blip r:embed="rId2">
            <a:extLst>
              <a:ext uri="{28A0092B-C50C-407E-A947-70E740481C1C}">
                <a14:useLocalDpi xmlns:a14="http://schemas.microsoft.com/office/drawing/2010/main" val="0"/>
              </a:ext>
            </a:extLst>
          </a:blip>
          <a:srcRect t="21959" r="45873" b="21322"/>
          <a:stretch/>
        </p:blipFill>
        <p:spPr>
          <a:xfrm>
            <a:off x="3452924" y="3429000"/>
            <a:ext cx="8332669" cy="3273579"/>
          </a:xfrm>
          <a:prstGeom prst="rect">
            <a:avLst/>
          </a:prstGeom>
        </p:spPr>
      </p:pic>
      <p:sp>
        <p:nvSpPr>
          <p:cNvPr id="23" name="TextBox 22">
            <a:extLst>
              <a:ext uri="{FF2B5EF4-FFF2-40B4-BE49-F238E27FC236}">
                <a16:creationId xmlns:a16="http://schemas.microsoft.com/office/drawing/2014/main" id="{BD9D389B-F5FA-435F-8648-92F94E181566}"/>
              </a:ext>
            </a:extLst>
          </p:cNvPr>
          <p:cNvSpPr txBox="1"/>
          <p:nvPr/>
        </p:nvSpPr>
        <p:spPr>
          <a:xfrm>
            <a:off x="236710" y="2531369"/>
            <a:ext cx="454297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Network Topologies</a:t>
            </a:r>
            <a:endParaRPr lang="en-IN" sz="2400" b="1" dirty="0">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98828A64-9356-422C-B5B3-C2967C94A02A}"/>
              </a:ext>
            </a:extLst>
          </p:cNvPr>
          <p:cNvSpPr txBox="1"/>
          <p:nvPr/>
        </p:nvSpPr>
        <p:spPr>
          <a:xfrm>
            <a:off x="0" y="3151510"/>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Network Devices</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778143BA-F5FE-4B4D-B4E1-6F49E8E12543}"/>
              </a:ext>
            </a:extLst>
          </p:cNvPr>
          <p:cNvSpPr txBox="1"/>
          <p:nvPr/>
        </p:nvSpPr>
        <p:spPr>
          <a:xfrm>
            <a:off x="0" y="4176674"/>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Real-Life Uses</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F955D04C-6CA7-4176-822A-54F35820DA19}"/>
              </a:ext>
            </a:extLst>
          </p:cNvPr>
          <p:cNvSpPr txBox="1"/>
          <p:nvPr/>
        </p:nvSpPr>
        <p:spPr>
          <a:xfrm>
            <a:off x="0" y="4625771"/>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Summary</a:t>
            </a:r>
            <a:endParaRPr lang="en-IN" sz="3200" b="1" dirty="0">
              <a:solidFill>
                <a:schemeClr val="accent6"/>
              </a:solidFill>
              <a:latin typeface="Times New Roman" panose="02020603050405020304" pitchFamily="18" charset="0"/>
              <a:cs typeface="Times New Roman" panose="02020603050405020304" pitchFamily="18" charset="0"/>
            </a:endParaRPr>
          </a:p>
        </p:txBody>
      </p:sp>
      <p:sp>
        <p:nvSpPr>
          <p:cNvPr id="27" name="Isosceles Triangle 26">
            <a:extLst>
              <a:ext uri="{FF2B5EF4-FFF2-40B4-BE49-F238E27FC236}">
                <a16:creationId xmlns:a16="http://schemas.microsoft.com/office/drawing/2014/main" id="{10658D0B-DE99-48D5-B74B-28B18103B9C0}"/>
              </a:ext>
            </a:extLst>
          </p:cNvPr>
          <p:cNvSpPr/>
          <p:nvPr/>
        </p:nvSpPr>
        <p:spPr>
          <a:xfrm rot="5400000">
            <a:off x="-57208" y="2587900"/>
            <a:ext cx="476250" cy="314781"/>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extBox 27">
            <a:extLst>
              <a:ext uri="{FF2B5EF4-FFF2-40B4-BE49-F238E27FC236}">
                <a16:creationId xmlns:a16="http://schemas.microsoft.com/office/drawing/2014/main" id="{86D9C817-034A-4C3A-8AA8-2E09E4BC8784}"/>
              </a:ext>
            </a:extLst>
          </p:cNvPr>
          <p:cNvSpPr txBox="1"/>
          <p:nvPr/>
        </p:nvSpPr>
        <p:spPr>
          <a:xfrm>
            <a:off x="0" y="3664092"/>
            <a:ext cx="250039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Layers</a:t>
            </a:r>
            <a:endParaRPr lang="en-IN" sz="3200" b="1" dirty="0">
              <a:solidFill>
                <a:schemeClr val="accent6"/>
              </a:solidFill>
              <a:latin typeface="Times New Roman" panose="02020603050405020304" pitchFamily="18" charset="0"/>
              <a:cs typeface="Times New Roman" panose="02020603050405020304" pitchFamily="18" charset="0"/>
            </a:endParaRPr>
          </a:p>
        </p:txBody>
      </p:sp>
      <p:sp>
        <p:nvSpPr>
          <p:cNvPr id="29" name="TextBox 28">
            <a:extLst>
              <a:ext uri="{FF2B5EF4-FFF2-40B4-BE49-F238E27FC236}">
                <a16:creationId xmlns:a16="http://schemas.microsoft.com/office/drawing/2014/main" id="{10AEAC1D-0FFA-4891-B853-B32266FF8BB5}"/>
              </a:ext>
            </a:extLst>
          </p:cNvPr>
          <p:cNvSpPr txBox="1"/>
          <p:nvPr/>
        </p:nvSpPr>
        <p:spPr>
          <a:xfrm>
            <a:off x="0" y="1474681"/>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Introduction</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F53C65F6-1075-487A-B9A4-E09DF92FA2D6}"/>
              </a:ext>
            </a:extLst>
          </p:cNvPr>
          <p:cNvSpPr txBox="1"/>
          <p:nvPr/>
        </p:nvSpPr>
        <p:spPr>
          <a:xfrm>
            <a:off x="0" y="2003025"/>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Types of Network</a:t>
            </a:r>
            <a:endParaRPr lang="en-IN" sz="2400" b="1" dirty="0">
              <a:solidFill>
                <a:schemeClr val="accent6"/>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04420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F11B78A0-56BE-4EC4-9088-B8BD47B392EF}"/>
              </a:ext>
            </a:extLst>
          </p:cNvPr>
          <p:cNvCxnSpPr>
            <a:cxnSpLocks/>
          </p:cNvCxnSpPr>
          <p:nvPr/>
        </p:nvCxnSpPr>
        <p:spPr>
          <a:xfrm>
            <a:off x="2976657" y="143163"/>
            <a:ext cx="0" cy="6591300"/>
          </a:xfrm>
          <a:prstGeom prst="line">
            <a:avLst/>
          </a:prstGeom>
        </p:spPr>
        <p:style>
          <a:lnRef idx="3">
            <a:schemeClr val="dk1"/>
          </a:lnRef>
          <a:fillRef idx="0">
            <a:schemeClr val="dk1"/>
          </a:fillRef>
          <a:effectRef idx="2">
            <a:schemeClr val="dk1"/>
          </a:effectRef>
          <a:fontRef idx="minor">
            <a:schemeClr val="tx1"/>
          </a:fontRef>
        </p:style>
      </p:cxnSp>
      <p:sp>
        <p:nvSpPr>
          <p:cNvPr id="12" name="TextBox 11">
            <a:extLst>
              <a:ext uri="{FF2B5EF4-FFF2-40B4-BE49-F238E27FC236}">
                <a16:creationId xmlns:a16="http://schemas.microsoft.com/office/drawing/2014/main" id="{1874A9C9-F9C1-42B8-BC4B-BA5A60893584}"/>
              </a:ext>
            </a:extLst>
          </p:cNvPr>
          <p:cNvSpPr txBox="1"/>
          <p:nvPr/>
        </p:nvSpPr>
        <p:spPr>
          <a:xfrm>
            <a:off x="3119343" y="119500"/>
            <a:ext cx="6096000" cy="523220"/>
          </a:xfrm>
          <a:prstGeom prst="rect">
            <a:avLst/>
          </a:prstGeom>
          <a:noFill/>
        </p:spPr>
        <p:txBody>
          <a:bodyPr wrap="square">
            <a:spAutoFit/>
          </a:bodyPr>
          <a:lstStyle/>
          <a:p>
            <a:r>
              <a:rPr lang="en-US" sz="2800" b="1" u="sng" dirty="0">
                <a:latin typeface="Times New Roman" panose="02020603050405020304" pitchFamily="18" charset="0"/>
                <a:cs typeface="Times New Roman" panose="02020603050405020304" pitchFamily="18" charset="0"/>
              </a:rPr>
              <a:t>Star Topology:</a:t>
            </a:r>
            <a:endParaRPr lang="en-IN" sz="2800" b="1" u="sng"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91374340-A998-4007-9655-FBBC76B07B07}"/>
              </a:ext>
            </a:extLst>
          </p:cNvPr>
          <p:cNvSpPr txBox="1"/>
          <p:nvPr/>
        </p:nvSpPr>
        <p:spPr>
          <a:xfrm>
            <a:off x="3119342" y="484835"/>
            <a:ext cx="8506597" cy="2795958"/>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All devices are connected to a central device (hub or switch)</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Data passes through the central device</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Easy to install and manage</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Failure of one device does not affect others</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Failure of central device stops the network</a:t>
            </a:r>
          </a:p>
        </p:txBody>
      </p:sp>
      <p:sp>
        <p:nvSpPr>
          <p:cNvPr id="16" name="TextBox 15">
            <a:extLst>
              <a:ext uri="{FF2B5EF4-FFF2-40B4-BE49-F238E27FC236}">
                <a16:creationId xmlns:a16="http://schemas.microsoft.com/office/drawing/2014/main" id="{846734CE-D81B-41CB-B424-B17491EFF2F1}"/>
              </a:ext>
            </a:extLst>
          </p:cNvPr>
          <p:cNvSpPr txBox="1"/>
          <p:nvPr/>
        </p:nvSpPr>
        <p:spPr>
          <a:xfrm>
            <a:off x="236710" y="2471236"/>
            <a:ext cx="454297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Network Topologies</a:t>
            </a:r>
            <a:endParaRPr lang="en-IN" sz="2400" b="1"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966FB88D-C904-45E9-AFAD-8647BBCF78AB}"/>
              </a:ext>
            </a:extLst>
          </p:cNvPr>
          <p:cNvSpPr txBox="1"/>
          <p:nvPr/>
        </p:nvSpPr>
        <p:spPr>
          <a:xfrm>
            <a:off x="0" y="3091377"/>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Network Devices</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1D77438B-1E4A-4C27-9C71-3C080808EDB4}"/>
              </a:ext>
            </a:extLst>
          </p:cNvPr>
          <p:cNvSpPr txBox="1"/>
          <p:nvPr/>
        </p:nvSpPr>
        <p:spPr>
          <a:xfrm>
            <a:off x="0" y="4116541"/>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Real-Life Uses</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4B10B938-2213-4060-B2A2-BD2CB786E440}"/>
              </a:ext>
            </a:extLst>
          </p:cNvPr>
          <p:cNvSpPr txBox="1"/>
          <p:nvPr/>
        </p:nvSpPr>
        <p:spPr>
          <a:xfrm>
            <a:off x="0" y="4565638"/>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Summary</a:t>
            </a:r>
            <a:endParaRPr lang="en-IN" sz="3200" b="1" dirty="0">
              <a:solidFill>
                <a:schemeClr val="accent6"/>
              </a:solidFill>
              <a:latin typeface="Times New Roman" panose="02020603050405020304" pitchFamily="18" charset="0"/>
              <a:cs typeface="Times New Roman" panose="02020603050405020304" pitchFamily="18" charset="0"/>
            </a:endParaRPr>
          </a:p>
        </p:txBody>
      </p:sp>
      <p:sp>
        <p:nvSpPr>
          <p:cNvPr id="20" name="Isosceles Triangle 19">
            <a:extLst>
              <a:ext uri="{FF2B5EF4-FFF2-40B4-BE49-F238E27FC236}">
                <a16:creationId xmlns:a16="http://schemas.microsoft.com/office/drawing/2014/main" id="{F8439BA6-962A-401B-A985-B081AB0C9D20}"/>
              </a:ext>
            </a:extLst>
          </p:cNvPr>
          <p:cNvSpPr/>
          <p:nvPr/>
        </p:nvSpPr>
        <p:spPr>
          <a:xfrm rot="5400000">
            <a:off x="-57208" y="2527767"/>
            <a:ext cx="476250" cy="314781"/>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FFDE604A-6473-4158-A377-E26BB5CFC30C}"/>
              </a:ext>
            </a:extLst>
          </p:cNvPr>
          <p:cNvSpPr txBox="1"/>
          <p:nvPr/>
        </p:nvSpPr>
        <p:spPr>
          <a:xfrm>
            <a:off x="0" y="3603959"/>
            <a:ext cx="250039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Layers</a:t>
            </a:r>
            <a:endParaRPr lang="en-IN" sz="3200" b="1" dirty="0">
              <a:solidFill>
                <a:schemeClr val="accent6"/>
              </a:solidFill>
              <a:latin typeface="Times New Roman" panose="02020603050405020304" pitchFamily="18" charset="0"/>
              <a:cs typeface="Times New Roman" panose="02020603050405020304" pitchFamily="18" charset="0"/>
            </a:endParaRPr>
          </a:p>
        </p:txBody>
      </p:sp>
      <p:pic>
        <p:nvPicPr>
          <p:cNvPr id="25" name="Picture 24">
            <a:extLst>
              <a:ext uri="{FF2B5EF4-FFF2-40B4-BE49-F238E27FC236}">
                <a16:creationId xmlns:a16="http://schemas.microsoft.com/office/drawing/2014/main" id="{80CD2F81-A49E-4739-87A7-0265F794CACD}"/>
              </a:ext>
            </a:extLst>
          </p:cNvPr>
          <p:cNvPicPr>
            <a:picLocks noChangeAspect="1"/>
          </p:cNvPicPr>
          <p:nvPr/>
        </p:nvPicPr>
        <p:blipFill>
          <a:blip r:embed="rId2"/>
          <a:srcRect/>
          <a:stretch>
            <a:fillRect/>
          </a:stretch>
        </p:blipFill>
        <p:spPr>
          <a:xfrm>
            <a:off x="3262023" y="3147598"/>
            <a:ext cx="8506597" cy="3601378"/>
          </a:xfrm>
          <a:custGeom>
            <a:avLst/>
            <a:gdLst>
              <a:gd name="connsiteX0" fmla="*/ 0 w 8506597"/>
              <a:gd name="connsiteY0" fmla="*/ 0 h 3305463"/>
              <a:gd name="connsiteX1" fmla="*/ 2833977 w 8506597"/>
              <a:gd name="connsiteY1" fmla="*/ 0 h 3305463"/>
              <a:gd name="connsiteX2" fmla="*/ 2833977 w 8506597"/>
              <a:gd name="connsiteY2" fmla="*/ 369332 h 3305463"/>
              <a:gd name="connsiteX3" fmla="*/ 5664263 w 8506597"/>
              <a:gd name="connsiteY3" fmla="*/ 369332 h 3305463"/>
              <a:gd name="connsiteX4" fmla="*/ 5664263 w 8506597"/>
              <a:gd name="connsiteY4" fmla="*/ 0 h 3305463"/>
              <a:gd name="connsiteX5" fmla="*/ 8506597 w 8506597"/>
              <a:gd name="connsiteY5" fmla="*/ 0 h 3305463"/>
              <a:gd name="connsiteX6" fmla="*/ 8506597 w 8506597"/>
              <a:gd name="connsiteY6" fmla="*/ 3305463 h 3305463"/>
              <a:gd name="connsiteX7" fmla="*/ 0 w 8506597"/>
              <a:gd name="connsiteY7" fmla="*/ 3305463 h 330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06597" h="3305463">
                <a:moveTo>
                  <a:pt x="0" y="0"/>
                </a:moveTo>
                <a:lnTo>
                  <a:pt x="2833977" y="0"/>
                </a:lnTo>
                <a:lnTo>
                  <a:pt x="2833977" y="369332"/>
                </a:lnTo>
                <a:lnTo>
                  <a:pt x="5664263" y="369332"/>
                </a:lnTo>
                <a:lnTo>
                  <a:pt x="5664263" y="0"/>
                </a:lnTo>
                <a:lnTo>
                  <a:pt x="8506597" y="0"/>
                </a:lnTo>
                <a:lnTo>
                  <a:pt x="8506597" y="3305463"/>
                </a:lnTo>
                <a:lnTo>
                  <a:pt x="0" y="3305463"/>
                </a:lnTo>
                <a:close/>
              </a:path>
            </a:pathLst>
          </a:custGeom>
        </p:spPr>
      </p:pic>
      <p:sp>
        <p:nvSpPr>
          <p:cNvPr id="22" name="TextBox 21">
            <a:extLst>
              <a:ext uri="{FF2B5EF4-FFF2-40B4-BE49-F238E27FC236}">
                <a16:creationId xmlns:a16="http://schemas.microsoft.com/office/drawing/2014/main" id="{43F04880-8CEF-4279-AF91-773B9B8C25E8}"/>
              </a:ext>
            </a:extLst>
          </p:cNvPr>
          <p:cNvSpPr txBox="1"/>
          <p:nvPr/>
        </p:nvSpPr>
        <p:spPr>
          <a:xfrm>
            <a:off x="0" y="1414548"/>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Introduction</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28722C6E-621B-4DAD-AAAA-8655D2348075}"/>
              </a:ext>
            </a:extLst>
          </p:cNvPr>
          <p:cNvSpPr txBox="1"/>
          <p:nvPr/>
        </p:nvSpPr>
        <p:spPr>
          <a:xfrm>
            <a:off x="0" y="1942892"/>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Types of Network</a:t>
            </a:r>
            <a:endParaRPr lang="en-IN" sz="2400" b="1" dirty="0">
              <a:solidFill>
                <a:schemeClr val="accent6"/>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38336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F11B78A0-56BE-4EC4-9088-B8BD47B392EF}"/>
              </a:ext>
            </a:extLst>
          </p:cNvPr>
          <p:cNvCxnSpPr>
            <a:cxnSpLocks/>
          </p:cNvCxnSpPr>
          <p:nvPr/>
        </p:nvCxnSpPr>
        <p:spPr>
          <a:xfrm>
            <a:off x="2962143" y="133350"/>
            <a:ext cx="0" cy="6591300"/>
          </a:xfrm>
          <a:prstGeom prst="line">
            <a:avLst/>
          </a:prstGeom>
        </p:spPr>
        <p:style>
          <a:lnRef idx="3">
            <a:schemeClr val="dk1"/>
          </a:lnRef>
          <a:fillRef idx="0">
            <a:schemeClr val="dk1"/>
          </a:fillRef>
          <a:effectRef idx="2">
            <a:schemeClr val="dk1"/>
          </a:effectRef>
          <a:fontRef idx="minor">
            <a:schemeClr val="tx1"/>
          </a:fontRef>
        </p:style>
      </p:cxnSp>
      <p:sp>
        <p:nvSpPr>
          <p:cNvPr id="12" name="TextBox 11">
            <a:extLst>
              <a:ext uri="{FF2B5EF4-FFF2-40B4-BE49-F238E27FC236}">
                <a16:creationId xmlns:a16="http://schemas.microsoft.com/office/drawing/2014/main" id="{CA347B27-47B9-4064-979C-96666E3D15AE}"/>
              </a:ext>
            </a:extLst>
          </p:cNvPr>
          <p:cNvSpPr txBox="1"/>
          <p:nvPr/>
        </p:nvSpPr>
        <p:spPr>
          <a:xfrm>
            <a:off x="3048000" y="98855"/>
            <a:ext cx="6096000" cy="523220"/>
          </a:xfrm>
          <a:prstGeom prst="rect">
            <a:avLst/>
          </a:prstGeom>
          <a:noFill/>
        </p:spPr>
        <p:txBody>
          <a:bodyPr wrap="square">
            <a:spAutoFit/>
          </a:bodyPr>
          <a:lstStyle/>
          <a:p>
            <a:r>
              <a:rPr lang="en-US" sz="2800" b="1" u="sng" dirty="0">
                <a:latin typeface="Times New Roman" panose="02020603050405020304" pitchFamily="18" charset="0"/>
                <a:cs typeface="Times New Roman" panose="02020603050405020304" pitchFamily="18" charset="0"/>
              </a:rPr>
              <a:t>Bus Topology:</a:t>
            </a:r>
            <a:endParaRPr lang="en-IN" sz="2800" b="1" u="sng"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5E4D77B8-90EB-4690-BE15-0B8569B0A0DF}"/>
              </a:ext>
            </a:extLst>
          </p:cNvPr>
          <p:cNvSpPr txBox="1"/>
          <p:nvPr/>
        </p:nvSpPr>
        <p:spPr>
          <a:xfrm>
            <a:off x="3063741" y="403194"/>
            <a:ext cx="8547688" cy="2795958"/>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All devices are connected to a single main cable</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Data travels along the main cable</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Easy and low cost to install</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Performance reduces as devices increase</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Failure of main cable stops the network</a:t>
            </a:r>
          </a:p>
        </p:txBody>
      </p:sp>
      <p:sp>
        <p:nvSpPr>
          <p:cNvPr id="16" name="TextBox 15">
            <a:extLst>
              <a:ext uri="{FF2B5EF4-FFF2-40B4-BE49-F238E27FC236}">
                <a16:creationId xmlns:a16="http://schemas.microsoft.com/office/drawing/2014/main" id="{64F23B93-9B83-4F86-B361-1F0EF055931F}"/>
              </a:ext>
            </a:extLst>
          </p:cNvPr>
          <p:cNvSpPr txBox="1"/>
          <p:nvPr/>
        </p:nvSpPr>
        <p:spPr>
          <a:xfrm>
            <a:off x="236710" y="2426424"/>
            <a:ext cx="454297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Network Topologies</a:t>
            </a:r>
            <a:endParaRPr lang="en-IN" sz="2400" b="1"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746E85A3-B8B3-4891-BD53-30532582DFB9}"/>
              </a:ext>
            </a:extLst>
          </p:cNvPr>
          <p:cNvSpPr txBox="1"/>
          <p:nvPr/>
        </p:nvSpPr>
        <p:spPr>
          <a:xfrm>
            <a:off x="0" y="3046565"/>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Network Devices</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F3C9EA6D-0FF4-46B8-8B79-BACE24874EB1}"/>
              </a:ext>
            </a:extLst>
          </p:cNvPr>
          <p:cNvSpPr txBox="1"/>
          <p:nvPr/>
        </p:nvSpPr>
        <p:spPr>
          <a:xfrm>
            <a:off x="0" y="4071729"/>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Real-Life Uses</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A4E48214-FDE4-428F-8D0C-D75D04FD50FF}"/>
              </a:ext>
            </a:extLst>
          </p:cNvPr>
          <p:cNvSpPr txBox="1"/>
          <p:nvPr/>
        </p:nvSpPr>
        <p:spPr>
          <a:xfrm>
            <a:off x="0" y="4520826"/>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Summary</a:t>
            </a:r>
            <a:endParaRPr lang="en-IN" sz="3200" b="1" dirty="0">
              <a:solidFill>
                <a:schemeClr val="accent6"/>
              </a:solidFill>
              <a:latin typeface="Times New Roman" panose="02020603050405020304" pitchFamily="18" charset="0"/>
              <a:cs typeface="Times New Roman" panose="02020603050405020304" pitchFamily="18" charset="0"/>
            </a:endParaRPr>
          </a:p>
        </p:txBody>
      </p:sp>
      <p:sp>
        <p:nvSpPr>
          <p:cNvPr id="20" name="Isosceles Triangle 19">
            <a:extLst>
              <a:ext uri="{FF2B5EF4-FFF2-40B4-BE49-F238E27FC236}">
                <a16:creationId xmlns:a16="http://schemas.microsoft.com/office/drawing/2014/main" id="{90C11C09-B1EB-48A7-9DA4-DB00B8971C1B}"/>
              </a:ext>
            </a:extLst>
          </p:cNvPr>
          <p:cNvSpPr/>
          <p:nvPr/>
        </p:nvSpPr>
        <p:spPr>
          <a:xfrm rot="5400000">
            <a:off x="-57208" y="2482955"/>
            <a:ext cx="476250" cy="314781"/>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4B49F5F9-466B-402B-809B-EBCE8AE9A097}"/>
              </a:ext>
            </a:extLst>
          </p:cNvPr>
          <p:cNvSpPr txBox="1"/>
          <p:nvPr/>
        </p:nvSpPr>
        <p:spPr>
          <a:xfrm>
            <a:off x="0" y="3559147"/>
            <a:ext cx="250039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Layers</a:t>
            </a:r>
            <a:endParaRPr lang="en-IN" sz="3200" b="1" dirty="0">
              <a:solidFill>
                <a:schemeClr val="accent6"/>
              </a:solidFill>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3DB04D1A-2172-4AA2-9E98-AFF92945BCC7}"/>
              </a:ext>
            </a:extLst>
          </p:cNvPr>
          <p:cNvSpPr txBox="1"/>
          <p:nvPr/>
        </p:nvSpPr>
        <p:spPr>
          <a:xfrm>
            <a:off x="0" y="1369736"/>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Introduction</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8A53138D-C3D6-40A8-87AA-7516D30362E6}"/>
              </a:ext>
            </a:extLst>
          </p:cNvPr>
          <p:cNvSpPr txBox="1"/>
          <p:nvPr/>
        </p:nvSpPr>
        <p:spPr>
          <a:xfrm>
            <a:off x="0" y="1898080"/>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Types of Network</a:t>
            </a:r>
            <a:endParaRPr lang="en-IN" sz="2400" b="1" dirty="0">
              <a:solidFill>
                <a:schemeClr val="accent6"/>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F2C29A18-D4F6-4E96-966C-A08A4FF04F0C}"/>
              </a:ext>
            </a:extLst>
          </p:cNvPr>
          <p:cNvPicPr>
            <a:picLocks noChangeAspect="1"/>
          </p:cNvPicPr>
          <p:nvPr/>
        </p:nvPicPr>
        <p:blipFill>
          <a:blip r:embed="rId2"/>
          <a:stretch>
            <a:fillRect/>
          </a:stretch>
        </p:blipFill>
        <p:spPr>
          <a:xfrm>
            <a:off x="3423895" y="3296282"/>
            <a:ext cx="6708389" cy="3333099"/>
          </a:xfrm>
          <a:prstGeom prst="rect">
            <a:avLst/>
          </a:prstGeom>
        </p:spPr>
      </p:pic>
    </p:spTree>
    <p:extLst>
      <p:ext uri="{BB962C8B-B14F-4D97-AF65-F5344CB8AC3E}">
        <p14:creationId xmlns:p14="http://schemas.microsoft.com/office/powerpoint/2010/main" val="35108445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F11B78A0-56BE-4EC4-9088-B8BD47B392EF}"/>
              </a:ext>
            </a:extLst>
          </p:cNvPr>
          <p:cNvCxnSpPr>
            <a:cxnSpLocks/>
          </p:cNvCxnSpPr>
          <p:nvPr/>
        </p:nvCxnSpPr>
        <p:spPr>
          <a:xfrm>
            <a:off x="2976658" y="133350"/>
            <a:ext cx="0" cy="6591300"/>
          </a:xfrm>
          <a:prstGeom prst="line">
            <a:avLst/>
          </a:prstGeom>
        </p:spPr>
        <p:style>
          <a:lnRef idx="3">
            <a:schemeClr val="dk1"/>
          </a:lnRef>
          <a:fillRef idx="0">
            <a:schemeClr val="dk1"/>
          </a:fillRef>
          <a:effectRef idx="2">
            <a:schemeClr val="dk1"/>
          </a:effectRef>
          <a:fontRef idx="minor">
            <a:schemeClr val="tx1"/>
          </a:fontRef>
        </p:style>
      </p:cxnSp>
      <p:sp>
        <p:nvSpPr>
          <p:cNvPr id="12" name="TextBox 11">
            <a:extLst>
              <a:ext uri="{FF2B5EF4-FFF2-40B4-BE49-F238E27FC236}">
                <a16:creationId xmlns:a16="http://schemas.microsoft.com/office/drawing/2014/main" id="{12671F21-BB16-4729-AF54-D3991BA05B1B}"/>
              </a:ext>
            </a:extLst>
          </p:cNvPr>
          <p:cNvSpPr txBox="1"/>
          <p:nvPr/>
        </p:nvSpPr>
        <p:spPr>
          <a:xfrm>
            <a:off x="3048000" y="138611"/>
            <a:ext cx="6096000" cy="523220"/>
          </a:xfrm>
          <a:prstGeom prst="rect">
            <a:avLst/>
          </a:prstGeom>
          <a:noFill/>
        </p:spPr>
        <p:txBody>
          <a:bodyPr wrap="square">
            <a:spAutoFit/>
          </a:bodyPr>
          <a:lstStyle/>
          <a:p>
            <a:r>
              <a:rPr lang="en-US" sz="2800" b="1" u="sng" dirty="0">
                <a:latin typeface="Times New Roman" panose="02020603050405020304" pitchFamily="18" charset="0"/>
                <a:cs typeface="Times New Roman" panose="02020603050405020304" pitchFamily="18" charset="0"/>
              </a:rPr>
              <a:t>Ring Topology</a:t>
            </a:r>
            <a:r>
              <a:rPr lang="en-US" sz="2000" b="1" u="sng" dirty="0">
                <a:latin typeface="Times New Roman" panose="02020603050405020304" pitchFamily="18" charset="0"/>
                <a:cs typeface="Times New Roman" panose="02020603050405020304" pitchFamily="18" charset="0"/>
              </a:rPr>
              <a:t>:</a:t>
            </a:r>
            <a:endParaRPr lang="en-IN" sz="2000" b="1" u="sng"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781EFBD3-2672-4428-9012-4249761D428D}"/>
              </a:ext>
            </a:extLst>
          </p:cNvPr>
          <p:cNvSpPr txBox="1"/>
          <p:nvPr/>
        </p:nvSpPr>
        <p:spPr>
          <a:xfrm>
            <a:off x="3119340" y="604013"/>
            <a:ext cx="8942029" cy="2795958"/>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Devices are connected in a circular ring</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Data moves in one direction</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Each device passes data to the next</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No central device required</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Failure of one device affects the network</a:t>
            </a:r>
          </a:p>
        </p:txBody>
      </p:sp>
      <p:sp>
        <p:nvSpPr>
          <p:cNvPr id="16" name="TextBox 15">
            <a:extLst>
              <a:ext uri="{FF2B5EF4-FFF2-40B4-BE49-F238E27FC236}">
                <a16:creationId xmlns:a16="http://schemas.microsoft.com/office/drawing/2014/main" id="{4DDD019D-19DF-421F-8995-DA5C1B65C5AB}"/>
              </a:ext>
            </a:extLst>
          </p:cNvPr>
          <p:cNvSpPr txBox="1"/>
          <p:nvPr/>
        </p:nvSpPr>
        <p:spPr>
          <a:xfrm>
            <a:off x="236710" y="2460464"/>
            <a:ext cx="454297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Network Topologies</a:t>
            </a:r>
            <a:endParaRPr lang="en-IN" sz="2400" b="1"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F0EAF699-E793-4FE6-A161-7170FD02E57B}"/>
              </a:ext>
            </a:extLst>
          </p:cNvPr>
          <p:cNvSpPr txBox="1"/>
          <p:nvPr/>
        </p:nvSpPr>
        <p:spPr>
          <a:xfrm>
            <a:off x="0" y="3080605"/>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Network Devices</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DA0413F1-71EA-4127-A783-002487F1AC95}"/>
              </a:ext>
            </a:extLst>
          </p:cNvPr>
          <p:cNvSpPr txBox="1"/>
          <p:nvPr/>
        </p:nvSpPr>
        <p:spPr>
          <a:xfrm>
            <a:off x="0" y="4105769"/>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Real-Life Uses</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F43E86EC-DA0F-44BD-9F7A-00BA897D25E6}"/>
              </a:ext>
            </a:extLst>
          </p:cNvPr>
          <p:cNvSpPr txBox="1"/>
          <p:nvPr/>
        </p:nvSpPr>
        <p:spPr>
          <a:xfrm>
            <a:off x="0" y="4554866"/>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Summary</a:t>
            </a:r>
            <a:endParaRPr lang="en-IN" sz="3200" b="1" dirty="0">
              <a:solidFill>
                <a:schemeClr val="accent6"/>
              </a:solidFill>
              <a:latin typeface="Times New Roman" panose="02020603050405020304" pitchFamily="18" charset="0"/>
              <a:cs typeface="Times New Roman" panose="02020603050405020304" pitchFamily="18" charset="0"/>
            </a:endParaRPr>
          </a:p>
        </p:txBody>
      </p:sp>
      <p:sp>
        <p:nvSpPr>
          <p:cNvPr id="20" name="Isosceles Triangle 19">
            <a:extLst>
              <a:ext uri="{FF2B5EF4-FFF2-40B4-BE49-F238E27FC236}">
                <a16:creationId xmlns:a16="http://schemas.microsoft.com/office/drawing/2014/main" id="{B102C0D9-F3FA-4830-883F-09E350F4AE21}"/>
              </a:ext>
            </a:extLst>
          </p:cNvPr>
          <p:cNvSpPr/>
          <p:nvPr/>
        </p:nvSpPr>
        <p:spPr>
          <a:xfrm rot="5400000">
            <a:off x="-57208" y="2516995"/>
            <a:ext cx="476250" cy="314781"/>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66D981A3-1C0A-4540-98F1-B1FFBC517237}"/>
              </a:ext>
            </a:extLst>
          </p:cNvPr>
          <p:cNvSpPr txBox="1"/>
          <p:nvPr/>
        </p:nvSpPr>
        <p:spPr>
          <a:xfrm>
            <a:off x="0" y="3593187"/>
            <a:ext cx="250039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Layers</a:t>
            </a:r>
            <a:endParaRPr lang="en-IN" sz="3200" b="1" dirty="0">
              <a:solidFill>
                <a:schemeClr val="accent6"/>
              </a:solidFill>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783A5CE8-A93F-49EF-AA74-2B4410CEC35B}"/>
              </a:ext>
            </a:extLst>
          </p:cNvPr>
          <p:cNvSpPr txBox="1"/>
          <p:nvPr/>
        </p:nvSpPr>
        <p:spPr>
          <a:xfrm>
            <a:off x="0" y="1403776"/>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Introduction</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59E0D203-4958-477C-983D-3672ACF1EA2F}"/>
              </a:ext>
            </a:extLst>
          </p:cNvPr>
          <p:cNvSpPr txBox="1"/>
          <p:nvPr/>
        </p:nvSpPr>
        <p:spPr>
          <a:xfrm>
            <a:off x="0" y="1932120"/>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Types of Network</a:t>
            </a:r>
            <a:endParaRPr lang="en-IN" sz="2400" b="1" dirty="0">
              <a:solidFill>
                <a:schemeClr val="accent6"/>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BC23EA85-D4AD-4FF7-81B5-5CAA6E49C897}"/>
              </a:ext>
            </a:extLst>
          </p:cNvPr>
          <p:cNvPicPr>
            <a:picLocks noChangeAspect="1"/>
          </p:cNvPicPr>
          <p:nvPr/>
        </p:nvPicPr>
        <p:blipFill>
          <a:blip r:embed="rId2"/>
          <a:stretch>
            <a:fillRect/>
          </a:stretch>
        </p:blipFill>
        <p:spPr>
          <a:xfrm>
            <a:off x="3452925" y="3587476"/>
            <a:ext cx="5520931" cy="3270524"/>
          </a:xfrm>
          <a:prstGeom prst="rect">
            <a:avLst/>
          </a:prstGeom>
        </p:spPr>
      </p:pic>
    </p:spTree>
    <p:extLst>
      <p:ext uri="{BB962C8B-B14F-4D97-AF65-F5344CB8AC3E}">
        <p14:creationId xmlns:p14="http://schemas.microsoft.com/office/powerpoint/2010/main" val="42845132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F11B78A0-56BE-4EC4-9088-B8BD47B392EF}"/>
              </a:ext>
            </a:extLst>
          </p:cNvPr>
          <p:cNvCxnSpPr>
            <a:cxnSpLocks/>
          </p:cNvCxnSpPr>
          <p:nvPr/>
        </p:nvCxnSpPr>
        <p:spPr>
          <a:xfrm>
            <a:off x="2962143" y="178018"/>
            <a:ext cx="0" cy="6591300"/>
          </a:xfrm>
          <a:prstGeom prst="line">
            <a:avLst/>
          </a:prstGeom>
        </p:spPr>
        <p:style>
          <a:lnRef idx="3">
            <a:schemeClr val="dk1"/>
          </a:lnRef>
          <a:fillRef idx="0">
            <a:schemeClr val="dk1"/>
          </a:fillRef>
          <a:effectRef idx="2">
            <a:schemeClr val="dk1"/>
          </a:effectRef>
          <a:fontRef idx="minor">
            <a:schemeClr val="tx1"/>
          </a:fontRef>
        </p:style>
      </p:cxnSp>
      <p:sp>
        <p:nvSpPr>
          <p:cNvPr id="12" name="TextBox 11">
            <a:extLst>
              <a:ext uri="{FF2B5EF4-FFF2-40B4-BE49-F238E27FC236}">
                <a16:creationId xmlns:a16="http://schemas.microsoft.com/office/drawing/2014/main" id="{21EF2341-D499-4C7A-AA74-6BEED6CF4C20}"/>
              </a:ext>
            </a:extLst>
          </p:cNvPr>
          <p:cNvSpPr txBox="1"/>
          <p:nvPr/>
        </p:nvSpPr>
        <p:spPr>
          <a:xfrm>
            <a:off x="3068359" y="134561"/>
            <a:ext cx="6096000" cy="523220"/>
          </a:xfrm>
          <a:prstGeom prst="rect">
            <a:avLst/>
          </a:prstGeom>
          <a:noFill/>
        </p:spPr>
        <p:txBody>
          <a:bodyPr wrap="square">
            <a:spAutoFit/>
          </a:bodyPr>
          <a:lstStyle/>
          <a:p>
            <a:r>
              <a:rPr lang="en-US" sz="2800" b="1" u="sng" dirty="0">
                <a:latin typeface="Times New Roman" panose="02020603050405020304" pitchFamily="18" charset="0"/>
                <a:cs typeface="Times New Roman" panose="02020603050405020304" pitchFamily="18" charset="0"/>
              </a:rPr>
              <a:t>Mesh Topology</a:t>
            </a:r>
            <a:r>
              <a:rPr lang="en-US" sz="2400" b="1" u="sng" dirty="0">
                <a:latin typeface="Times New Roman" panose="02020603050405020304" pitchFamily="18" charset="0"/>
                <a:cs typeface="Times New Roman" panose="02020603050405020304" pitchFamily="18" charset="0"/>
              </a:rPr>
              <a:t>:</a:t>
            </a:r>
            <a:endParaRPr lang="en-IN" sz="2400" b="1" u="sng"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197BF4C1-8750-4580-9AA8-A379EFE1DE6F}"/>
              </a:ext>
            </a:extLst>
          </p:cNvPr>
          <p:cNvSpPr txBox="1"/>
          <p:nvPr/>
        </p:nvSpPr>
        <p:spPr>
          <a:xfrm>
            <a:off x="3063741" y="629403"/>
            <a:ext cx="8662363" cy="2795958"/>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Each device is connected to multiple devices</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Multiple paths for data transmission</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Very reliable and secure</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Expensive and complex</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Used in critical networks</a:t>
            </a:r>
          </a:p>
        </p:txBody>
      </p:sp>
      <p:sp>
        <p:nvSpPr>
          <p:cNvPr id="16" name="TextBox 15">
            <a:extLst>
              <a:ext uri="{FF2B5EF4-FFF2-40B4-BE49-F238E27FC236}">
                <a16:creationId xmlns:a16="http://schemas.microsoft.com/office/drawing/2014/main" id="{B14CDD8F-DE1F-4967-97B9-388C2BC8662E}"/>
              </a:ext>
            </a:extLst>
          </p:cNvPr>
          <p:cNvSpPr txBox="1"/>
          <p:nvPr/>
        </p:nvSpPr>
        <p:spPr>
          <a:xfrm>
            <a:off x="236710" y="2435516"/>
            <a:ext cx="454297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Network Topologies</a:t>
            </a:r>
            <a:endParaRPr lang="en-IN" sz="2400" b="1"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121B4D38-6991-4020-875D-EDCDE7740051}"/>
              </a:ext>
            </a:extLst>
          </p:cNvPr>
          <p:cNvSpPr txBox="1"/>
          <p:nvPr/>
        </p:nvSpPr>
        <p:spPr>
          <a:xfrm>
            <a:off x="0" y="3055657"/>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Network Devices</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1B07F5C9-6DB4-453B-8060-69BBE09A62C2}"/>
              </a:ext>
            </a:extLst>
          </p:cNvPr>
          <p:cNvSpPr txBox="1"/>
          <p:nvPr/>
        </p:nvSpPr>
        <p:spPr>
          <a:xfrm>
            <a:off x="0" y="4080821"/>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Real-Life Uses</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5C885629-0B77-4913-A960-B2BCEEEECF0A}"/>
              </a:ext>
            </a:extLst>
          </p:cNvPr>
          <p:cNvSpPr txBox="1"/>
          <p:nvPr/>
        </p:nvSpPr>
        <p:spPr>
          <a:xfrm>
            <a:off x="0" y="4529918"/>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Summary</a:t>
            </a:r>
            <a:endParaRPr lang="en-IN" sz="3200" b="1" dirty="0">
              <a:solidFill>
                <a:schemeClr val="accent6"/>
              </a:solidFill>
              <a:latin typeface="Times New Roman" panose="02020603050405020304" pitchFamily="18" charset="0"/>
              <a:cs typeface="Times New Roman" panose="02020603050405020304" pitchFamily="18" charset="0"/>
            </a:endParaRPr>
          </a:p>
        </p:txBody>
      </p:sp>
      <p:sp>
        <p:nvSpPr>
          <p:cNvPr id="20" name="Isosceles Triangle 19">
            <a:extLst>
              <a:ext uri="{FF2B5EF4-FFF2-40B4-BE49-F238E27FC236}">
                <a16:creationId xmlns:a16="http://schemas.microsoft.com/office/drawing/2014/main" id="{5A338B16-8592-4D6A-A6B6-AADB84172047}"/>
              </a:ext>
            </a:extLst>
          </p:cNvPr>
          <p:cNvSpPr/>
          <p:nvPr/>
        </p:nvSpPr>
        <p:spPr>
          <a:xfrm rot="5400000">
            <a:off x="-57208" y="2492047"/>
            <a:ext cx="476250" cy="314781"/>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0BB3345E-405F-4699-B54E-33F4A9BD232C}"/>
              </a:ext>
            </a:extLst>
          </p:cNvPr>
          <p:cNvSpPr txBox="1"/>
          <p:nvPr/>
        </p:nvSpPr>
        <p:spPr>
          <a:xfrm>
            <a:off x="0" y="3568239"/>
            <a:ext cx="250039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Layers</a:t>
            </a:r>
            <a:endParaRPr lang="en-IN" sz="3200" b="1" dirty="0">
              <a:solidFill>
                <a:schemeClr val="accent6"/>
              </a:solidFill>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67DEA6C1-4EC3-4D9C-B26A-627705600955}"/>
              </a:ext>
            </a:extLst>
          </p:cNvPr>
          <p:cNvSpPr txBox="1"/>
          <p:nvPr/>
        </p:nvSpPr>
        <p:spPr>
          <a:xfrm>
            <a:off x="0" y="1378828"/>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Introduction</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44DE3982-B46D-4E66-95C8-06D62EAFE6E6}"/>
              </a:ext>
            </a:extLst>
          </p:cNvPr>
          <p:cNvSpPr txBox="1"/>
          <p:nvPr/>
        </p:nvSpPr>
        <p:spPr>
          <a:xfrm>
            <a:off x="0" y="1907172"/>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Types of Network</a:t>
            </a:r>
            <a:endParaRPr lang="en-IN" sz="2400" b="1" dirty="0">
              <a:solidFill>
                <a:schemeClr val="accent6"/>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D7EC79CB-8D3D-4F02-BACC-4610CFFD3FD2}"/>
              </a:ext>
            </a:extLst>
          </p:cNvPr>
          <p:cNvPicPr>
            <a:picLocks noChangeAspect="1"/>
          </p:cNvPicPr>
          <p:nvPr/>
        </p:nvPicPr>
        <p:blipFill>
          <a:blip r:embed="rId2"/>
          <a:stretch>
            <a:fillRect/>
          </a:stretch>
        </p:blipFill>
        <p:spPr>
          <a:xfrm>
            <a:off x="3309258" y="3425361"/>
            <a:ext cx="6531428" cy="3359472"/>
          </a:xfrm>
          <a:prstGeom prst="rect">
            <a:avLst/>
          </a:prstGeom>
        </p:spPr>
      </p:pic>
    </p:spTree>
    <p:extLst>
      <p:ext uri="{BB962C8B-B14F-4D97-AF65-F5344CB8AC3E}">
        <p14:creationId xmlns:p14="http://schemas.microsoft.com/office/powerpoint/2010/main" val="19443129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B0C3EE5-5EBE-4C12-B00D-84AF2EE09723}"/>
              </a:ext>
            </a:extLst>
          </p:cNvPr>
          <p:cNvPicPr>
            <a:picLocks noChangeAspect="1"/>
          </p:cNvPicPr>
          <p:nvPr/>
        </p:nvPicPr>
        <p:blipFill>
          <a:blip r:embed="rId2"/>
          <a:stretch>
            <a:fillRect/>
          </a:stretch>
        </p:blipFill>
        <p:spPr>
          <a:xfrm>
            <a:off x="6284687" y="0"/>
            <a:ext cx="5907314" cy="6858000"/>
          </a:xfrm>
          <a:prstGeom prst="rect">
            <a:avLst/>
          </a:prstGeom>
        </p:spPr>
      </p:pic>
      <p:cxnSp>
        <p:nvCxnSpPr>
          <p:cNvPr id="12" name="Straight Connector 11">
            <a:extLst>
              <a:ext uri="{FF2B5EF4-FFF2-40B4-BE49-F238E27FC236}">
                <a16:creationId xmlns:a16="http://schemas.microsoft.com/office/drawing/2014/main" id="{F41B0877-2F0E-467B-950F-87A795096D70}"/>
              </a:ext>
            </a:extLst>
          </p:cNvPr>
          <p:cNvCxnSpPr>
            <a:cxnSpLocks/>
          </p:cNvCxnSpPr>
          <p:nvPr/>
        </p:nvCxnSpPr>
        <p:spPr>
          <a:xfrm>
            <a:off x="2840586" y="261609"/>
            <a:ext cx="0" cy="6458504"/>
          </a:xfrm>
          <a:prstGeom prst="line">
            <a:avLst/>
          </a:prstGeom>
        </p:spPr>
        <p:style>
          <a:lnRef idx="3">
            <a:schemeClr val="dk1"/>
          </a:lnRef>
          <a:fillRef idx="0">
            <a:schemeClr val="dk1"/>
          </a:fillRef>
          <a:effectRef idx="2">
            <a:schemeClr val="dk1"/>
          </a:effectRef>
          <a:fontRef idx="minor">
            <a:schemeClr val="tx1"/>
          </a:fontRef>
        </p:style>
      </p:cxnSp>
      <p:sp>
        <p:nvSpPr>
          <p:cNvPr id="13" name="TextBox 12">
            <a:extLst>
              <a:ext uri="{FF2B5EF4-FFF2-40B4-BE49-F238E27FC236}">
                <a16:creationId xmlns:a16="http://schemas.microsoft.com/office/drawing/2014/main" id="{2F2EE67C-8A29-4E84-863B-28C7ABB8BBF8}"/>
              </a:ext>
            </a:extLst>
          </p:cNvPr>
          <p:cNvSpPr txBox="1"/>
          <p:nvPr/>
        </p:nvSpPr>
        <p:spPr>
          <a:xfrm>
            <a:off x="2840586" y="157988"/>
            <a:ext cx="7760412" cy="5878532"/>
          </a:xfrm>
          <a:prstGeom prst="rect">
            <a:avLst/>
          </a:prstGeom>
          <a:noFill/>
        </p:spPr>
        <p:txBody>
          <a:bodyPr wrap="square">
            <a:spAutoFit/>
          </a:bodyPr>
          <a:lstStyle/>
          <a:p>
            <a:r>
              <a:rPr lang="en-US" sz="2800" b="1" u="sng" dirty="0">
                <a:latin typeface="Times New Roman" panose="02020603050405020304" pitchFamily="18" charset="0"/>
                <a:cs typeface="Times New Roman" panose="02020603050405020304" pitchFamily="18" charset="0"/>
              </a:rPr>
              <a:t>Networking Devices:</a:t>
            </a:r>
          </a:p>
          <a:p>
            <a:endParaRPr lang="en-US" sz="2800" b="1" u="sng"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Modem</a:t>
            </a:r>
          </a:p>
          <a:p>
            <a:pPr marL="1200150" lvl="2" indent="-28575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Connects the network to the Internet</a:t>
            </a:r>
          </a:p>
          <a:p>
            <a:pPr marL="1200150" lvl="2" indent="-28575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Converts signals for communication</a:t>
            </a:r>
          </a:p>
          <a:p>
            <a:pPr marL="285750" indent="-28575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Router</a:t>
            </a:r>
          </a:p>
          <a:p>
            <a:pPr marL="1200150" lvl="2" indent="-28575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Connects different networks</a:t>
            </a:r>
          </a:p>
          <a:p>
            <a:pPr marL="1200150" lvl="2" indent="-28575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Directs data to the correct destination </a:t>
            </a:r>
          </a:p>
          <a:p>
            <a:pPr marL="285750" indent="-28575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Switch</a:t>
            </a:r>
          </a:p>
          <a:p>
            <a:pPr marL="1200150" lvl="2" indent="-28575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Connects devices within a LAN</a:t>
            </a:r>
          </a:p>
          <a:p>
            <a:pPr marL="1200150" lvl="2" indent="-28575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Improves network performance</a:t>
            </a:r>
          </a:p>
          <a:p>
            <a:pPr marL="285750" indent="-28575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Hub</a:t>
            </a:r>
          </a:p>
          <a:p>
            <a:pPr marL="1200150" lvl="2" indent="-28575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Basic device to connect computers</a:t>
            </a:r>
          </a:p>
          <a:p>
            <a:pPr marL="1200150" lvl="2" indent="-28575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Sends data to all devices</a:t>
            </a:r>
          </a:p>
          <a:p>
            <a:pPr marL="457200" indent="-457200" algn="l" rtl="0" fontAlgn="base">
              <a:buFont typeface="Arial" panose="020B0604020202020204" pitchFamily="34" charset="0"/>
              <a:buChar char="•"/>
            </a:pPr>
            <a:r>
              <a:rPr lang="en-US" sz="2400" b="1" i="0" dirty="0">
                <a:latin typeface="Times New Roman" panose="02020603050405020304" pitchFamily="18" charset="0"/>
                <a:cs typeface="Times New Roman" panose="02020603050405020304" pitchFamily="18" charset="0"/>
              </a:rPr>
              <a:t>Gateway</a:t>
            </a:r>
            <a:endParaRPr lang="en-US" sz="2400" b="0" i="0" dirty="0">
              <a:latin typeface="Times New Roman" panose="02020603050405020304" pitchFamily="18" charset="0"/>
              <a:cs typeface="Times New Roman" panose="02020603050405020304" pitchFamily="18" charset="0"/>
            </a:endParaRPr>
          </a:p>
          <a:p>
            <a:pPr marL="1257300" lvl="2" indent="-342900" fontAlgn="base">
              <a:buFont typeface="Wingdings" panose="05000000000000000000" pitchFamily="2" charset="2"/>
              <a:buChar char="§"/>
            </a:pPr>
            <a:r>
              <a:rPr lang="en-US" sz="2000" b="0" i="0" dirty="0">
                <a:latin typeface="Times New Roman" panose="02020603050405020304" pitchFamily="18" charset="0"/>
                <a:cs typeface="Times New Roman" panose="02020603050405020304" pitchFamily="18" charset="0"/>
              </a:rPr>
              <a:t>Connects two different types of networks.</a:t>
            </a:r>
          </a:p>
          <a:p>
            <a:pPr marL="1257300" lvl="2" indent="-342900" fontAlgn="base">
              <a:buFont typeface="Wingdings" panose="05000000000000000000" pitchFamily="2" charset="2"/>
              <a:buChar char="§"/>
            </a:pPr>
            <a:r>
              <a:rPr lang="en-US" sz="2000" b="0" i="0" dirty="0">
                <a:latin typeface="Times New Roman" panose="02020603050405020304" pitchFamily="18" charset="0"/>
                <a:cs typeface="Times New Roman" panose="02020603050405020304" pitchFamily="18" charset="0"/>
              </a:rPr>
              <a:t>Translates data between different protocols.</a:t>
            </a:r>
            <a:endParaRPr lang="en-US" sz="2400" b="0" i="0"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C5F6127F-0E2C-4C34-AA4D-69870F4A77A0}"/>
              </a:ext>
            </a:extLst>
          </p:cNvPr>
          <p:cNvSpPr txBox="1"/>
          <p:nvPr/>
        </p:nvSpPr>
        <p:spPr>
          <a:xfrm>
            <a:off x="0" y="1922833"/>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Network Topologies</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8B153B28-1AFB-464F-AD59-890EA9CDD447}"/>
              </a:ext>
            </a:extLst>
          </p:cNvPr>
          <p:cNvSpPr txBox="1"/>
          <p:nvPr/>
        </p:nvSpPr>
        <p:spPr>
          <a:xfrm>
            <a:off x="309750" y="2499422"/>
            <a:ext cx="454297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Network Devices</a:t>
            </a:r>
            <a:endParaRPr lang="en-IN" sz="2400" b="1"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160D09DE-5402-4F4A-A91D-6BF7E4524C29}"/>
              </a:ext>
            </a:extLst>
          </p:cNvPr>
          <p:cNvSpPr txBox="1"/>
          <p:nvPr/>
        </p:nvSpPr>
        <p:spPr>
          <a:xfrm>
            <a:off x="-28557" y="3655653"/>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Real-Life Uses</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EBB7059E-9A25-49D0-8CAF-27C55BACD2E2}"/>
              </a:ext>
            </a:extLst>
          </p:cNvPr>
          <p:cNvSpPr txBox="1"/>
          <p:nvPr/>
        </p:nvSpPr>
        <p:spPr>
          <a:xfrm>
            <a:off x="-28557" y="4157254"/>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Summary</a:t>
            </a:r>
            <a:endParaRPr lang="en-IN" sz="3200" b="1" dirty="0">
              <a:solidFill>
                <a:schemeClr val="accent6"/>
              </a:solidFill>
              <a:latin typeface="Times New Roman" panose="02020603050405020304" pitchFamily="18" charset="0"/>
              <a:cs typeface="Times New Roman" panose="02020603050405020304" pitchFamily="18" charset="0"/>
            </a:endParaRPr>
          </a:p>
        </p:txBody>
      </p:sp>
      <p:sp>
        <p:nvSpPr>
          <p:cNvPr id="20" name="Isosceles Triangle 19">
            <a:extLst>
              <a:ext uri="{FF2B5EF4-FFF2-40B4-BE49-F238E27FC236}">
                <a16:creationId xmlns:a16="http://schemas.microsoft.com/office/drawing/2014/main" id="{A331ED69-C6DC-452F-85DB-E8B1EEA22F48}"/>
              </a:ext>
            </a:extLst>
          </p:cNvPr>
          <p:cNvSpPr/>
          <p:nvPr/>
        </p:nvSpPr>
        <p:spPr>
          <a:xfrm rot="5400000">
            <a:off x="-57208" y="2544357"/>
            <a:ext cx="476250" cy="314781"/>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683C993D-5A1C-4078-8CA2-EC9DBD71D398}"/>
              </a:ext>
            </a:extLst>
          </p:cNvPr>
          <p:cNvSpPr txBox="1"/>
          <p:nvPr/>
        </p:nvSpPr>
        <p:spPr>
          <a:xfrm>
            <a:off x="-3367" y="3097254"/>
            <a:ext cx="250039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Layers</a:t>
            </a:r>
            <a:endParaRPr lang="en-IN" sz="3200" b="1" dirty="0">
              <a:solidFill>
                <a:schemeClr val="accent6"/>
              </a:solidFill>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7FB85675-49A0-435A-A5B8-12A9EB48FBE9}"/>
              </a:ext>
            </a:extLst>
          </p:cNvPr>
          <p:cNvSpPr txBox="1"/>
          <p:nvPr/>
        </p:nvSpPr>
        <p:spPr>
          <a:xfrm>
            <a:off x="0" y="879714"/>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Introduction</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3E39F763-D8FC-4FA2-B4F2-E617E85671DC}"/>
              </a:ext>
            </a:extLst>
          </p:cNvPr>
          <p:cNvSpPr txBox="1"/>
          <p:nvPr/>
        </p:nvSpPr>
        <p:spPr>
          <a:xfrm>
            <a:off x="-28557" y="1392296"/>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Types of Network</a:t>
            </a:r>
            <a:endParaRPr lang="en-IN" sz="2400" b="1" dirty="0">
              <a:solidFill>
                <a:schemeClr val="accent6"/>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2977306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F41B0877-2F0E-467B-950F-87A795096D70}"/>
              </a:ext>
            </a:extLst>
          </p:cNvPr>
          <p:cNvCxnSpPr>
            <a:cxnSpLocks/>
          </p:cNvCxnSpPr>
          <p:nvPr/>
        </p:nvCxnSpPr>
        <p:spPr>
          <a:xfrm>
            <a:off x="2826073" y="61686"/>
            <a:ext cx="0" cy="6734628"/>
          </a:xfrm>
          <a:prstGeom prst="line">
            <a:avLst/>
          </a:prstGeom>
        </p:spPr>
        <p:style>
          <a:lnRef idx="3">
            <a:schemeClr val="dk1"/>
          </a:lnRef>
          <a:fillRef idx="0">
            <a:schemeClr val="dk1"/>
          </a:fillRef>
          <a:effectRef idx="2">
            <a:schemeClr val="dk1"/>
          </a:effectRef>
          <a:fontRef idx="minor">
            <a:schemeClr val="tx1"/>
          </a:fontRef>
        </p:style>
      </p:cxnSp>
      <p:sp>
        <p:nvSpPr>
          <p:cNvPr id="3" name="TextBox 2">
            <a:extLst>
              <a:ext uri="{FF2B5EF4-FFF2-40B4-BE49-F238E27FC236}">
                <a16:creationId xmlns:a16="http://schemas.microsoft.com/office/drawing/2014/main" id="{C9038054-3D08-45EF-A7EC-81900AE1FC22}"/>
              </a:ext>
            </a:extLst>
          </p:cNvPr>
          <p:cNvSpPr txBox="1"/>
          <p:nvPr/>
        </p:nvSpPr>
        <p:spPr>
          <a:xfrm>
            <a:off x="2960774" y="148880"/>
            <a:ext cx="3294743" cy="523220"/>
          </a:xfrm>
          <a:prstGeom prst="rect">
            <a:avLst/>
          </a:prstGeom>
          <a:noFill/>
        </p:spPr>
        <p:txBody>
          <a:bodyPr wrap="square" rtlCol="0">
            <a:spAutoFit/>
          </a:bodyPr>
          <a:lstStyle/>
          <a:p>
            <a:r>
              <a:rPr lang="en-US" sz="2800" b="1" u="sng" dirty="0">
                <a:latin typeface="Times New Roman" panose="02020603050405020304" pitchFamily="18" charset="0"/>
                <a:cs typeface="Times New Roman" panose="02020603050405020304" pitchFamily="18" charset="0"/>
              </a:rPr>
              <a:t>OSI Layer:</a:t>
            </a:r>
            <a:endParaRPr lang="en-IN" sz="2800" b="1" u="sng"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41C6D21F-45B0-48F9-98BD-BAE4365DCBD2}"/>
              </a:ext>
            </a:extLst>
          </p:cNvPr>
          <p:cNvSpPr txBox="1"/>
          <p:nvPr/>
        </p:nvSpPr>
        <p:spPr>
          <a:xfrm>
            <a:off x="2960774" y="726282"/>
            <a:ext cx="9231226" cy="2308324"/>
          </a:xfrm>
          <a:prstGeom prst="rect">
            <a:avLst/>
          </a:prstGeom>
          <a:noFill/>
        </p:spPr>
        <p:txBody>
          <a:bodyPr wrap="square">
            <a:spAutoFit/>
          </a:bodyPr>
          <a:lstStyle/>
          <a:p>
            <a:pPr algn="just"/>
            <a:r>
              <a:rPr lang="en-US" sz="2400" b="0" i="0" dirty="0">
                <a:effectLst/>
                <a:latin typeface="Times New Roman" panose="02020603050405020304" pitchFamily="18" charset="0"/>
                <a:cs typeface="Times New Roman" panose="02020603050405020304" pitchFamily="18" charset="0"/>
              </a:rPr>
              <a:t>The OSI (Open Systems Interconnection) Model is a set of rules that explains how different computer systems communicate over a network. OSI Model was developed by the International Organization for Standardization (ISO). The OSI Model consists of 7 layers and each layer has specific functions and responsibilities. This layered approach makes it easier for different devices and technologies to work together.</a:t>
            </a:r>
            <a:endParaRPr lang="en-IN" sz="2400"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FD02C030-033A-4F99-8ACB-C225C1FBAD17}"/>
              </a:ext>
            </a:extLst>
          </p:cNvPr>
          <p:cNvPicPr>
            <a:picLocks noChangeAspect="1"/>
          </p:cNvPicPr>
          <p:nvPr/>
        </p:nvPicPr>
        <p:blipFill>
          <a:blip r:embed="rId2"/>
          <a:stretch>
            <a:fillRect/>
          </a:stretch>
        </p:blipFill>
        <p:spPr>
          <a:xfrm>
            <a:off x="2960774" y="2960681"/>
            <a:ext cx="9106693" cy="3759434"/>
          </a:xfrm>
          <a:prstGeom prst="rect">
            <a:avLst/>
          </a:prstGeom>
        </p:spPr>
      </p:pic>
      <p:sp>
        <p:nvSpPr>
          <p:cNvPr id="24" name="TextBox 23">
            <a:extLst>
              <a:ext uri="{FF2B5EF4-FFF2-40B4-BE49-F238E27FC236}">
                <a16:creationId xmlns:a16="http://schemas.microsoft.com/office/drawing/2014/main" id="{6A76938D-AD45-43DF-9286-FDC9D3487FF6}"/>
              </a:ext>
            </a:extLst>
          </p:cNvPr>
          <p:cNvSpPr txBox="1"/>
          <p:nvPr/>
        </p:nvSpPr>
        <p:spPr>
          <a:xfrm>
            <a:off x="23526" y="1415843"/>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Network Topologies</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2ACFBDBF-0328-4752-B79D-D64BB4D2C37A}"/>
              </a:ext>
            </a:extLst>
          </p:cNvPr>
          <p:cNvSpPr txBox="1"/>
          <p:nvPr/>
        </p:nvSpPr>
        <p:spPr>
          <a:xfrm>
            <a:off x="0" y="1911427"/>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Network Devices</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A277D7C2-4A40-4EE4-8646-D6D98B56A8F2}"/>
              </a:ext>
            </a:extLst>
          </p:cNvPr>
          <p:cNvSpPr txBox="1"/>
          <p:nvPr/>
        </p:nvSpPr>
        <p:spPr>
          <a:xfrm>
            <a:off x="-10035" y="3095889"/>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Real-Life Uses</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3A9FD2CF-7AA3-44F3-85BC-59C17B22C85F}"/>
              </a:ext>
            </a:extLst>
          </p:cNvPr>
          <p:cNvSpPr txBox="1"/>
          <p:nvPr/>
        </p:nvSpPr>
        <p:spPr>
          <a:xfrm>
            <a:off x="0" y="3585037"/>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Summary</a:t>
            </a:r>
            <a:endParaRPr lang="en-IN" sz="3200" b="1" dirty="0">
              <a:solidFill>
                <a:schemeClr val="accent6"/>
              </a:solidFill>
              <a:latin typeface="Times New Roman" panose="02020603050405020304" pitchFamily="18" charset="0"/>
              <a:cs typeface="Times New Roman" panose="02020603050405020304" pitchFamily="18" charset="0"/>
            </a:endParaRPr>
          </a:p>
        </p:txBody>
      </p:sp>
      <p:sp>
        <p:nvSpPr>
          <p:cNvPr id="28" name="Isosceles Triangle 27">
            <a:extLst>
              <a:ext uri="{FF2B5EF4-FFF2-40B4-BE49-F238E27FC236}">
                <a16:creationId xmlns:a16="http://schemas.microsoft.com/office/drawing/2014/main" id="{9D737886-B72D-4807-BC85-256F33ADE709}"/>
              </a:ext>
            </a:extLst>
          </p:cNvPr>
          <p:cNvSpPr/>
          <p:nvPr/>
        </p:nvSpPr>
        <p:spPr>
          <a:xfrm rot="5400000">
            <a:off x="-57208" y="2565164"/>
            <a:ext cx="476250" cy="314781"/>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TextBox 28">
            <a:extLst>
              <a:ext uri="{FF2B5EF4-FFF2-40B4-BE49-F238E27FC236}">
                <a16:creationId xmlns:a16="http://schemas.microsoft.com/office/drawing/2014/main" id="{49158AD0-2458-459D-8802-495B5D3C2BDA}"/>
              </a:ext>
            </a:extLst>
          </p:cNvPr>
          <p:cNvSpPr txBox="1"/>
          <p:nvPr/>
        </p:nvSpPr>
        <p:spPr>
          <a:xfrm>
            <a:off x="260507" y="2467422"/>
            <a:ext cx="250039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Layers</a:t>
            </a:r>
            <a:endParaRPr lang="en-IN" sz="3200" b="1" dirty="0">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8057334E-827B-4B40-9204-9021DC67654B}"/>
              </a:ext>
            </a:extLst>
          </p:cNvPr>
          <p:cNvSpPr txBox="1"/>
          <p:nvPr/>
        </p:nvSpPr>
        <p:spPr>
          <a:xfrm>
            <a:off x="0" y="467127"/>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Introduction</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31" name="TextBox 30">
            <a:extLst>
              <a:ext uri="{FF2B5EF4-FFF2-40B4-BE49-F238E27FC236}">
                <a16:creationId xmlns:a16="http://schemas.microsoft.com/office/drawing/2014/main" id="{7C7E9ED3-BF31-4144-995B-972528F6CBBC}"/>
              </a:ext>
            </a:extLst>
          </p:cNvPr>
          <p:cNvSpPr txBox="1"/>
          <p:nvPr/>
        </p:nvSpPr>
        <p:spPr>
          <a:xfrm>
            <a:off x="0" y="920259"/>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Types of Network</a:t>
            </a:r>
            <a:endParaRPr lang="en-IN" sz="2400" b="1" dirty="0">
              <a:solidFill>
                <a:schemeClr val="accent6"/>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3112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F41B0877-2F0E-467B-950F-87A795096D70}"/>
              </a:ext>
            </a:extLst>
          </p:cNvPr>
          <p:cNvCxnSpPr>
            <a:cxnSpLocks/>
          </p:cNvCxnSpPr>
          <p:nvPr/>
        </p:nvCxnSpPr>
        <p:spPr>
          <a:xfrm flipH="1">
            <a:off x="2796770" y="92028"/>
            <a:ext cx="18728" cy="6676572"/>
          </a:xfrm>
          <a:prstGeom prst="line">
            <a:avLst/>
          </a:prstGeom>
        </p:spPr>
        <p:style>
          <a:lnRef idx="3">
            <a:schemeClr val="dk1"/>
          </a:lnRef>
          <a:fillRef idx="0">
            <a:schemeClr val="dk1"/>
          </a:fillRef>
          <a:effectRef idx="2">
            <a:schemeClr val="dk1"/>
          </a:effectRef>
          <a:fontRef idx="minor">
            <a:schemeClr val="tx1"/>
          </a:fontRef>
        </p:style>
      </p:cxnSp>
      <p:sp>
        <p:nvSpPr>
          <p:cNvPr id="18" name="TextBox 17">
            <a:extLst>
              <a:ext uri="{FF2B5EF4-FFF2-40B4-BE49-F238E27FC236}">
                <a16:creationId xmlns:a16="http://schemas.microsoft.com/office/drawing/2014/main" id="{0C4456D5-2DCE-4EDE-901A-CBA65C3DF64B}"/>
              </a:ext>
            </a:extLst>
          </p:cNvPr>
          <p:cNvSpPr txBox="1"/>
          <p:nvPr/>
        </p:nvSpPr>
        <p:spPr>
          <a:xfrm>
            <a:off x="2999027" y="19457"/>
            <a:ext cx="9192973" cy="6673943"/>
          </a:xfrm>
          <a:prstGeom prst="rect">
            <a:avLst/>
          </a:prstGeom>
          <a:noFill/>
        </p:spPr>
        <p:txBody>
          <a:bodyPr wrap="square">
            <a:spAutoFit/>
          </a:bodyPr>
          <a:lstStyle/>
          <a:p>
            <a:pPr>
              <a:lnSpc>
                <a:spcPct val="150000"/>
              </a:lnSpc>
            </a:pPr>
            <a:r>
              <a:rPr lang="en-US" sz="2400" b="1" u="sng" dirty="0">
                <a:latin typeface="Times New Roman" panose="02020603050405020304" pitchFamily="18" charset="0"/>
                <a:cs typeface="Times New Roman" panose="02020603050405020304" pitchFamily="18" charset="0"/>
              </a:rPr>
              <a:t>Layer 7 – Application:</a:t>
            </a:r>
            <a:endParaRPr lang="en-US" sz="2400" u="sng" dirty="0">
              <a:latin typeface="Times New Roman" panose="02020603050405020304" pitchFamily="18" charset="0"/>
              <a:cs typeface="Times New Roman" panose="02020603050405020304" pitchFamily="18" charset="0"/>
            </a:endParaRPr>
          </a:p>
          <a:p>
            <a:pPr lvl="1">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is the layer users interact with directly</a:t>
            </a:r>
          </a:p>
          <a:p>
            <a:pPr lvl="1">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Provides network services like web browsing, email, file transfer</a:t>
            </a:r>
          </a:p>
          <a:p>
            <a:pPr lvl="1">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Example: Opening a website, sending an email</a:t>
            </a:r>
          </a:p>
          <a:p>
            <a:pPr>
              <a:lnSpc>
                <a:spcPct val="150000"/>
              </a:lnSpc>
            </a:pPr>
            <a:r>
              <a:rPr lang="en-US" sz="2400" b="1" u="sng" dirty="0">
                <a:latin typeface="Times New Roman" panose="02020603050405020304" pitchFamily="18" charset="0"/>
                <a:cs typeface="Times New Roman" panose="02020603050405020304" pitchFamily="18" charset="0"/>
              </a:rPr>
              <a:t>Layer 6 – Presentation:</a:t>
            </a:r>
            <a:endParaRPr lang="en-US" sz="2400" u="sng" dirty="0">
              <a:latin typeface="Times New Roman" panose="02020603050405020304" pitchFamily="18" charset="0"/>
              <a:cs typeface="Times New Roman" panose="02020603050405020304" pitchFamily="18" charset="0"/>
            </a:endParaRPr>
          </a:p>
          <a:p>
            <a:pPr lvl="1">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Makes data readable and secure</a:t>
            </a:r>
          </a:p>
          <a:p>
            <a:pPr lvl="1">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Handles formatting, encryption, and compression</a:t>
            </a:r>
          </a:p>
          <a:p>
            <a:pPr lvl="1">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Example: Encrypting data before sending</a:t>
            </a:r>
          </a:p>
          <a:p>
            <a:pPr>
              <a:lnSpc>
                <a:spcPct val="150000"/>
              </a:lnSpc>
            </a:pPr>
            <a:r>
              <a:rPr lang="en-US" sz="2400" b="1" u="sng" dirty="0">
                <a:latin typeface="Times New Roman" panose="02020603050405020304" pitchFamily="18" charset="0"/>
                <a:cs typeface="Times New Roman" panose="02020603050405020304" pitchFamily="18" charset="0"/>
              </a:rPr>
              <a:t>Layer 5 – Session:</a:t>
            </a:r>
            <a:endParaRPr lang="en-US" sz="2400" u="sng" dirty="0">
              <a:latin typeface="Times New Roman" panose="02020603050405020304" pitchFamily="18" charset="0"/>
              <a:cs typeface="Times New Roman" panose="02020603050405020304" pitchFamily="18" charset="0"/>
            </a:endParaRPr>
          </a:p>
          <a:p>
            <a:pPr lvl="1">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Controls communication sessions between devices</a:t>
            </a:r>
          </a:p>
          <a:p>
            <a:pPr lvl="1">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Starts, manages, and ends connections</a:t>
            </a:r>
          </a:p>
          <a:p>
            <a:pPr lvl="1">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Example: Keeping you logged in during a video call</a:t>
            </a:r>
            <a:endParaRPr lang="en-US" dirty="0">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9E5C8633-4C4E-45B0-959D-FB9B30094574}"/>
              </a:ext>
            </a:extLst>
          </p:cNvPr>
          <p:cNvSpPr txBox="1"/>
          <p:nvPr/>
        </p:nvSpPr>
        <p:spPr>
          <a:xfrm>
            <a:off x="23526" y="1415843"/>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Network Topologies</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55F965FA-73E3-49C0-B9C3-E0152034D8AF}"/>
              </a:ext>
            </a:extLst>
          </p:cNvPr>
          <p:cNvSpPr txBox="1"/>
          <p:nvPr/>
        </p:nvSpPr>
        <p:spPr>
          <a:xfrm>
            <a:off x="0" y="1911427"/>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Network Devices</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684BBB3C-E4E5-42E8-B9C4-2C30158F831C}"/>
              </a:ext>
            </a:extLst>
          </p:cNvPr>
          <p:cNvSpPr txBox="1"/>
          <p:nvPr/>
        </p:nvSpPr>
        <p:spPr>
          <a:xfrm>
            <a:off x="-10035" y="3095889"/>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Real-Life Uses</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1C0EEAAD-E833-457E-871C-610BEE987B0C}"/>
              </a:ext>
            </a:extLst>
          </p:cNvPr>
          <p:cNvSpPr txBox="1"/>
          <p:nvPr/>
        </p:nvSpPr>
        <p:spPr>
          <a:xfrm>
            <a:off x="0" y="3585037"/>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Summary</a:t>
            </a:r>
            <a:endParaRPr lang="en-IN" sz="3200" b="1" dirty="0">
              <a:solidFill>
                <a:schemeClr val="accent6"/>
              </a:solidFill>
              <a:latin typeface="Times New Roman" panose="02020603050405020304" pitchFamily="18" charset="0"/>
              <a:cs typeface="Times New Roman" panose="02020603050405020304" pitchFamily="18" charset="0"/>
            </a:endParaRPr>
          </a:p>
        </p:txBody>
      </p:sp>
      <p:sp>
        <p:nvSpPr>
          <p:cNvPr id="28" name="Isosceles Triangle 27">
            <a:extLst>
              <a:ext uri="{FF2B5EF4-FFF2-40B4-BE49-F238E27FC236}">
                <a16:creationId xmlns:a16="http://schemas.microsoft.com/office/drawing/2014/main" id="{84EFF7D1-A4E3-4556-8E79-FD92E9477EC1}"/>
              </a:ext>
            </a:extLst>
          </p:cNvPr>
          <p:cNvSpPr/>
          <p:nvPr/>
        </p:nvSpPr>
        <p:spPr>
          <a:xfrm rot="5400000">
            <a:off x="-57208" y="2565164"/>
            <a:ext cx="476250" cy="314781"/>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TextBox 28">
            <a:extLst>
              <a:ext uri="{FF2B5EF4-FFF2-40B4-BE49-F238E27FC236}">
                <a16:creationId xmlns:a16="http://schemas.microsoft.com/office/drawing/2014/main" id="{5D28B1A7-F3E8-41B1-AB39-3A6241C9D647}"/>
              </a:ext>
            </a:extLst>
          </p:cNvPr>
          <p:cNvSpPr txBox="1"/>
          <p:nvPr/>
        </p:nvSpPr>
        <p:spPr>
          <a:xfrm>
            <a:off x="260507" y="2467422"/>
            <a:ext cx="250039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Layers</a:t>
            </a:r>
            <a:endParaRPr lang="en-IN" sz="3200" b="1" dirty="0">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CD63A130-4261-4369-B496-910A257EF50B}"/>
              </a:ext>
            </a:extLst>
          </p:cNvPr>
          <p:cNvSpPr txBox="1"/>
          <p:nvPr/>
        </p:nvSpPr>
        <p:spPr>
          <a:xfrm>
            <a:off x="-14249" y="522624"/>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Introduction</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31" name="TextBox 30">
            <a:extLst>
              <a:ext uri="{FF2B5EF4-FFF2-40B4-BE49-F238E27FC236}">
                <a16:creationId xmlns:a16="http://schemas.microsoft.com/office/drawing/2014/main" id="{02606CB5-9368-4E39-A965-9CAA35306BDC}"/>
              </a:ext>
            </a:extLst>
          </p:cNvPr>
          <p:cNvSpPr txBox="1"/>
          <p:nvPr/>
        </p:nvSpPr>
        <p:spPr>
          <a:xfrm>
            <a:off x="0" y="920259"/>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Types of Network</a:t>
            </a:r>
            <a:endParaRPr lang="en-IN" sz="2400" b="1" dirty="0">
              <a:solidFill>
                <a:schemeClr val="accent6"/>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498471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F41B0877-2F0E-467B-950F-87A795096D70}"/>
              </a:ext>
            </a:extLst>
          </p:cNvPr>
          <p:cNvCxnSpPr>
            <a:cxnSpLocks/>
          </p:cNvCxnSpPr>
          <p:nvPr/>
        </p:nvCxnSpPr>
        <p:spPr>
          <a:xfrm>
            <a:off x="2771199" y="156862"/>
            <a:ext cx="0" cy="6458504"/>
          </a:xfrm>
          <a:prstGeom prst="line">
            <a:avLst/>
          </a:prstGeom>
        </p:spPr>
        <p:style>
          <a:lnRef idx="3">
            <a:schemeClr val="dk1"/>
          </a:lnRef>
          <a:fillRef idx="0">
            <a:schemeClr val="dk1"/>
          </a:fillRef>
          <a:effectRef idx="2">
            <a:schemeClr val="dk1"/>
          </a:effectRef>
          <a:fontRef idx="minor">
            <a:schemeClr val="tx1"/>
          </a:fontRef>
        </p:style>
      </p:cxnSp>
      <p:sp>
        <p:nvSpPr>
          <p:cNvPr id="18" name="TextBox 17">
            <a:extLst>
              <a:ext uri="{FF2B5EF4-FFF2-40B4-BE49-F238E27FC236}">
                <a16:creationId xmlns:a16="http://schemas.microsoft.com/office/drawing/2014/main" id="{836AC57D-1A4D-42EE-B3A6-931C8AF469E5}"/>
              </a:ext>
            </a:extLst>
          </p:cNvPr>
          <p:cNvSpPr txBox="1"/>
          <p:nvPr/>
        </p:nvSpPr>
        <p:spPr>
          <a:xfrm>
            <a:off x="2997880" y="71962"/>
            <a:ext cx="9729090" cy="6858609"/>
          </a:xfrm>
          <a:prstGeom prst="rect">
            <a:avLst/>
          </a:prstGeom>
          <a:noFill/>
        </p:spPr>
        <p:txBody>
          <a:bodyPr wrap="square">
            <a:spAutoFit/>
          </a:bodyPr>
          <a:lstStyle/>
          <a:p>
            <a:r>
              <a:rPr lang="en-US" sz="2400" b="1" u="sng" dirty="0">
                <a:latin typeface="Times New Roman" panose="02020603050405020304" pitchFamily="18" charset="0"/>
                <a:cs typeface="Times New Roman" panose="02020603050405020304" pitchFamily="18" charset="0"/>
              </a:rPr>
              <a:t>Layer 4 – Transport:</a:t>
            </a:r>
          </a:p>
          <a:p>
            <a:pPr lvl="1">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Ensures complete and reliable data delivery</a:t>
            </a:r>
          </a:p>
          <a:p>
            <a:pPr lvl="1">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Breaks data into segments and reassembles them</a:t>
            </a:r>
          </a:p>
          <a:p>
            <a:pPr lvl="1">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Example: TCP, UDP</a:t>
            </a:r>
          </a:p>
          <a:p>
            <a:r>
              <a:rPr lang="en-US" sz="2400" b="1" u="sng" dirty="0">
                <a:latin typeface="Times New Roman" panose="02020603050405020304" pitchFamily="18" charset="0"/>
                <a:cs typeface="Times New Roman" panose="02020603050405020304" pitchFamily="18" charset="0"/>
              </a:rPr>
              <a:t>Layer 3 – Network:</a:t>
            </a:r>
            <a:endParaRPr lang="en-US" sz="2400" u="sng"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Decides the best path for data to travel</a:t>
            </a:r>
          </a:p>
          <a:p>
            <a:pPr lvl="1">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Uses IP addresses</a:t>
            </a:r>
          </a:p>
          <a:p>
            <a:pPr lvl="1">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Example: Routers</a:t>
            </a:r>
          </a:p>
          <a:p>
            <a:r>
              <a:rPr lang="en-US" sz="2400" b="1" u="sng" dirty="0">
                <a:latin typeface="Times New Roman" panose="02020603050405020304" pitchFamily="18" charset="0"/>
                <a:cs typeface="Times New Roman" panose="02020603050405020304" pitchFamily="18" charset="0"/>
              </a:rPr>
              <a:t>Layer 2 – Data Link:</a:t>
            </a:r>
            <a:endParaRPr lang="en-US" sz="2400" u="sng"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Transfers data between two directly connected devices</a:t>
            </a:r>
          </a:p>
          <a:p>
            <a:pPr lvl="1">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Uses MAC addresses</a:t>
            </a:r>
          </a:p>
          <a:p>
            <a:pPr lvl="1">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Example: Switches, Ethernet</a:t>
            </a:r>
          </a:p>
          <a:p>
            <a:r>
              <a:rPr lang="en-US" sz="2400" b="1" u="sng" dirty="0">
                <a:latin typeface="Times New Roman" panose="02020603050405020304" pitchFamily="18" charset="0"/>
                <a:cs typeface="Times New Roman" panose="02020603050405020304" pitchFamily="18" charset="0"/>
              </a:rPr>
              <a:t>Layer 1 – Physical:</a:t>
            </a:r>
            <a:endParaRPr lang="en-US" sz="2400" u="sng"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Sends data as signals (bits) through cables or wireless</a:t>
            </a:r>
          </a:p>
          <a:p>
            <a:pPr lvl="1">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Includes hardware, wires, connectors</a:t>
            </a:r>
          </a:p>
        </p:txBody>
      </p:sp>
      <p:sp>
        <p:nvSpPr>
          <p:cNvPr id="19" name="TextBox 18">
            <a:extLst>
              <a:ext uri="{FF2B5EF4-FFF2-40B4-BE49-F238E27FC236}">
                <a16:creationId xmlns:a16="http://schemas.microsoft.com/office/drawing/2014/main" id="{5D09FB84-6DA8-408D-A6A7-93541800D056}"/>
              </a:ext>
            </a:extLst>
          </p:cNvPr>
          <p:cNvSpPr txBox="1"/>
          <p:nvPr/>
        </p:nvSpPr>
        <p:spPr>
          <a:xfrm>
            <a:off x="23526" y="1415843"/>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Network Topologies</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233DDA13-9BF0-4200-A47C-3C4BC5F5ABF8}"/>
              </a:ext>
            </a:extLst>
          </p:cNvPr>
          <p:cNvSpPr txBox="1"/>
          <p:nvPr/>
        </p:nvSpPr>
        <p:spPr>
          <a:xfrm>
            <a:off x="0" y="1911427"/>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Network Devices</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8260347A-62AF-4F41-977A-D2A0F521A294}"/>
              </a:ext>
            </a:extLst>
          </p:cNvPr>
          <p:cNvSpPr txBox="1"/>
          <p:nvPr/>
        </p:nvSpPr>
        <p:spPr>
          <a:xfrm>
            <a:off x="-10035" y="3095889"/>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Real-Life Uses</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D43FA5BB-F7A9-46A0-80EC-617EAAD347DF}"/>
              </a:ext>
            </a:extLst>
          </p:cNvPr>
          <p:cNvSpPr txBox="1"/>
          <p:nvPr/>
        </p:nvSpPr>
        <p:spPr>
          <a:xfrm>
            <a:off x="0" y="3585037"/>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Summary</a:t>
            </a:r>
            <a:endParaRPr lang="en-IN" sz="3200" b="1" dirty="0">
              <a:solidFill>
                <a:schemeClr val="accent6"/>
              </a:solidFill>
              <a:latin typeface="Times New Roman" panose="02020603050405020304" pitchFamily="18" charset="0"/>
              <a:cs typeface="Times New Roman" panose="02020603050405020304" pitchFamily="18" charset="0"/>
            </a:endParaRPr>
          </a:p>
        </p:txBody>
      </p:sp>
      <p:sp>
        <p:nvSpPr>
          <p:cNvPr id="23" name="Isosceles Triangle 22">
            <a:extLst>
              <a:ext uri="{FF2B5EF4-FFF2-40B4-BE49-F238E27FC236}">
                <a16:creationId xmlns:a16="http://schemas.microsoft.com/office/drawing/2014/main" id="{8F3C42A3-98FD-4EDC-A619-F6D81FB0BAFE}"/>
              </a:ext>
            </a:extLst>
          </p:cNvPr>
          <p:cNvSpPr/>
          <p:nvPr/>
        </p:nvSpPr>
        <p:spPr>
          <a:xfrm rot="5400000">
            <a:off x="-57208" y="2565164"/>
            <a:ext cx="476250" cy="314781"/>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AFC0719A-9B70-41C7-98AB-A3EC001A4322}"/>
              </a:ext>
            </a:extLst>
          </p:cNvPr>
          <p:cNvSpPr txBox="1"/>
          <p:nvPr/>
        </p:nvSpPr>
        <p:spPr>
          <a:xfrm>
            <a:off x="260507" y="2467422"/>
            <a:ext cx="250039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Layers</a:t>
            </a:r>
            <a:endParaRPr lang="en-IN" sz="3200" b="1"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E429C99B-86E5-49D2-B801-2783F6358D77}"/>
              </a:ext>
            </a:extLst>
          </p:cNvPr>
          <p:cNvSpPr txBox="1"/>
          <p:nvPr/>
        </p:nvSpPr>
        <p:spPr>
          <a:xfrm>
            <a:off x="0" y="467127"/>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Introduction</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8A323E90-2001-4AB1-AB39-A6FE8601E85E}"/>
              </a:ext>
            </a:extLst>
          </p:cNvPr>
          <p:cNvSpPr txBox="1"/>
          <p:nvPr/>
        </p:nvSpPr>
        <p:spPr>
          <a:xfrm>
            <a:off x="0" y="920259"/>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Types of Network</a:t>
            </a:r>
            <a:endParaRPr lang="en-IN" sz="2400" b="1" dirty="0">
              <a:solidFill>
                <a:schemeClr val="accent6"/>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149513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C968608-AC9A-4F93-81AD-88BBF6FDC252}"/>
              </a:ext>
            </a:extLst>
          </p:cNvPr>
          <p:cNvSpPr txBox="1"/>
          <p:nvPr/>
        </p:nvSpPr>
        <p:spPr>
          <a:xfrm>
            <a:off x="0" y="-1152105"/>
            <a:ext cx="4542972" cy="646331"/>
          </a:xfrm>
          <a:prstGeom prst="rect">
            <a:avLst/>
          </a:prstGeom>
          <a:noFill/>
        </p:spPr>
        <p:txBody>
          <a:bodyPr wrap="square" rtlCol="0">
            <a:spAutoFit/>
          </a:bodyPr>
          <a:lstStyle/>
          <a:p>
            <a:r>
              <a:rPr lang="en-US" sz="3600" b="1" dirty="0">
                <a:solidFill>
                  <a:schemeClr val="accent6"/>
                </a:solidFill>
                <a:latin typeface="Times New Roman" panose="02020603050405020304" pitchFamily="18" charset="0"/>
                <a:cs typeface="Times New Roman" panose="02020603050405020304" pitchFamily="18" charset="0"/>
              </a:rPr>
              <a:t>Introduction</a:t>
            </a:r>
            <a:endParaRPr lang="en-IN" sz="3600" b="1" dirty="0">
              <a:solidFill>
                <a:schemeClr val="accent6"/>
              </a:solidFill>
              <a:latin typeface="Times New Roman" panose="02020603050405020304" pitchFamily="18" charset="0"/>
              <a:cs typeface="Times New Roman" panose="02020603050405020304" pitchFamily="18" charset="0"/>
            </a:endParaRPr>
          </a:p>
        </p:txBody>
      </p:sp>
      <p:cxnSp>
        <p:nvCxnSpPr>
          <p:cNvPr id="11" name="Straight Connector 10">
            <a:extLst>
              <a:ext uri="{FF2B5EF4-FFF2-40B4-BE49-F238E27FC236}">
                <a16:creationId xmlns:a16="http://schemas.microsoft.com/office/drawing/2014/main" id="{FAE23F08-A184-4EF0-B77C-E20503810EF9}"/>
              </a:ext>
            </a:extLst>
          </p:cNvPr>
          <p:cNvCxnSpPr>
            <a:cxnSpLocks/>
          </p:cNvCxnSpPr>
          <p:nvPr/>
        </p:nvCxnSpPr>
        <p:spPr>
          <a:xfrm>
            <a:off x="2768015" y="132151"/>
            <a:ext cx="0" cy="6502400"/>
          </a:xfrm>
          <a:prstGeom prst="line">
            <a:avLst/>
          </a:prstGeom>
        </p:spPr>
        <p:style>
          <a:lnRef idx="3">
            <a:schemeClr val="dk1"/>
          </a:lnRef>
          <a:fillRef idx="0">
            <a:schemeClr val="dk1"/>
          </a:fillRef>
          <a:effectRef idx="2">
            <a:schemeClr val="dk1"/>
          </a:effectRef>
          <a:fontRef idx="minor">
            <a:schemeClr val="tx1"/>
          </a:fontRef>
        </p:style>
      </p:cxnSp>
      <p:sp>
        <p:nvSpPr>
          <p:cNvPr id="13" name="TextBox 12">
            <a:extLst>
              <a:ext uri="{FF2B5EF4-FFF2-40B4-BE49-F238E27FC236}">
                <a16:creationId xmlns:a16="http://schemas.microsoft.com/office/drawing/2014/main" id="{316B926B-D1EE-422C-9FDB-EAFB64003926}"/>
              </a:ext>
            </a:extLst>
          </p:cNvPr>
          <p:cNvSpPr txBox="1"/>
          <p:nvPr/>
        </p:nvSpPr>
        <p:spPr>
          <a:xfrm>
            <a:off x="2876252" y="76116"/>
            <a:ext cx="6190342" cy="584775"/>
          </a:xfrm>
          <a:prstGeom prst="rect">
            <a:avLst/>
          </a:prstGeom>
          <a:noFill/>
        </p:spPr>
        <p:txBody>
          <a:bodyPr wrap="square">
            <a:spAutoFit/>
          </a:bodyPr>
          <a:lstStyle/>
          <a:p>
            <a:r>
              <a:rPr lang="en-US" sz="3200" b="1" u="sng" dirty="0">
                <a:latin typeface="Times New Roman" panose="02020603050405020304" pitchFamily="18" charset="0"/>
                <a:cs typeface="Times New Roman" panose="02020603050405020304" pitchFamily="18" charset="0"/>
              </a:rPr>
              <a:t>Real-Life Uses of Networking:</a:t>
            </a:r>
            <a:endParaRPr lang="en-IN" sz="3200" b="1" u="sng"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A0713BE0-8510-4C97-B605-7FE364155195}"/>
              </a:ext>
            </a:extLst>
          </p:cNvPr>
          <p:cNvSpPr txBox="1"/>
          <p:nvPr/>
        </p:nvSpPr>
        <p:spPr>
          <a:xfrm>
            <a:off x="2876252" y="784337"/>
            <a:ext cx="9043916" cy="5185522"/>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Communication – Email, video calls, messaging apps</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Internet Access – Browsing websites and online services</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Education – Online classes, e-learning platforms</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Business – File sharing, online meetings, cloud services</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Banking &amp; Finance – Online banking, ATM networks</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Healthcare – Patient records, telemedicine</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Entertainment – Online games, streaming (YouTube, Netflix)</a:t>
            </a:r>
          </a:p>
        </p:txBody>
      </p:sp>
      <p:sp>
        <p:nvSpPr>
          <p:cNvPr id="16" name="TextBox 15">
            <a:extLst>
              <a:ext uri="{FF2B5EF4-FFF2-40B4-BE49-F238E27FC236}">
                <a16:creationId xmlns:a16="http://schemas.microsoft.com/office/drawing/2014/main" id="{6FDCBC7F-6DE3-4540-AC03-551AA94E94B7}"/>
              </a:ext>
            </a:extLst>
          </p:cNvPr>
          <p:cNvSpPr txBox="1"/>
          <p:nvPr/>
        </p:nvSpPr>
        <p:spPr>
          <a:xfrm>
            <a:off x="0" y="975782"/>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Network Topologies</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A78975AE-77AE-4D48-A1F3-F5D6C935B39F}"/>
              </a:ext>
            </a:extLst>
          </p:cNvPr>
          <p:cNvSpPr txBox="1"/>
          <p:nvPr/>
        </p:nvSpPr>
        <p:spPr>
          <a:xfrm>
            <a:off x="-10035" y="1417153"/>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Network Devices</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B5644934-BC3C-469D-9A42-C38954F4A38D}"/>
              </a:ext>
            </a:extLst>
          </p:cNvPr>
          <p:cNvSpPr txBox="1"/>
          <p:nvPr/>
        </p:nvSpPr>
        <p:spPr>
          <a:xfrm>
            <a:off x="255703" y="2484429"/>
            <a:ext cx="454297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Real-Life Uses</a:t>
            </a:r>
            <a:endParaRPr lang="en-IN" sz="2400" b="1"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EC10F7A4-3DA7-4A0B-8FA0-B3DE2973F8FF}"/>
              </a:ext>
            </a:extLst>
          </p:cNvPr>
          <p:cNvSpPr txBox="1"/>
          <p:nvPr/>
        </p:nvSpPr>
        <p:spPr>
          <a:xfrm>
            <a:off x="-10035" y="3069718"/>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Summary</a:t>
            </a:r>
            <a:endParaRPr lang="en-IN" sz="3200" b="1" dirty="0">
              <a:solidFill>
                <a:schemeClr val="accent6"/>
              </a:solidFill>
              <a:latin typeface="Times New Roman" panose="02020603050405020304" pitchFamily="18" charset="0"/>
              <a:cs typeface="Times New Roman" panose="02020603050405020304" pitchFamily="18" charset="0"/>
            </a:endParaRPr>
          </a:p>
        </p:txBody>
      </p:sp>
      <p:sp>
        <p:nvSpPr>
          <p:cNvPr id="20" name="Isosceles Triangle 19">
            <a:extLst>
              <a:ext uri="{FF2B5EF4-FFF2-40B4-BE49-F238E27FC236}">
                <a16:creationId xmlns:a16="http://schemas.microsoft.com/office/drawing/2014/main" id="{9A07E5BB-4BF7-4980-BA57-74DB8BCE2F98}"/>
              </a:ext>
            </a:extLst>
          </p:cNvPr>
          <p:cNvSpPr/>
          <p:nvPr/>
        </p:nvSpPr>
        <p:spPr>
          <a:xfrm rot="5400000">
            <a:off x="-57208" y="2565164"/>
            <a:ext cx="476250" cy="314781"/>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CA2DA5D4-186E-4249-9225-F56AEA7D74F0}"/>
              </a:ext>
            </a:extLst>
          </p:cNvPr>
          <p:cNvSpPr txBox="1"/>
          <p:nvPr/>
        </p:nvSpPr>
        <p:spPr>
          <a:xfrm>
            <a:off x="-19611" y="1855161"/>
            <a:ext cx="250039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Layers</a:t>
            </a:r>
            <a:endParaRPr lang="en-IN" sz="3200" b="1" dirty="0">
              <a:solidFill>
                <a:schemeClr val="accent6"/>
              </a:solidFill>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384BCAAE-14B7-4121-9042-7C810551877C}"/>
              </a:ext>
            </a:extLst>
          </p:cNvPr>
          <p:cNvSpPr txBox="1"/>
          <p:nvPr/>
        </p:nvSpPr>
        <p:spPr>
          <a:xfrm>
            <a:off x="-10035" y="132151"/>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Introduction</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72969A5E-9E73-4E92-A736-5746FA7435FC}"/>
              </a:ext>
            </a:extLst>
          </p:cNvPr>
          <p:cNvSpPr txBox="1"/>
          <p:nvPr/>
        </p:nvSpPr>
        <p:spPr>
          <a:xfrm>
            <a:off x="-10035" y="540260"/>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Types of Network</a:t>
            </a:r>
            <a:endParaRPr lang="en-IN" sz="2400" b="1" dirty="0">
              <a:solidFill>
                <a:schemeClr val="accent6"/>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44835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C968608-AC9A-4F93-81AD-88BBF6FDC252}"/>
              </a:ext>
            </a:extLst>
          </p:cNvPr>
          <p:cNvSpPr txBox="1"/>
          <p:nvPr/>
        </p:nvSpPr>
        <p:spPr>
          <a:xfrm>
            <a:off x="0" y="-3008886"/>
            <a:ext cx="4542972" cy="646331"/>
          </a:xfrm>
          <a:prstGeom prst="rect">
            <a:avLst/>
          </a:prstGeom>
          <a:noFill/>
        </p:spPr>
        <p:txBody>
          <a:bodyPr wrap="square" rtlCol="0">
            <a:spAutoFit/>
          </a:bodyPr>
          <a:lstStyle/>
          <a:p>
            <a:r>
              <a:rPr lang="en-US" sz="3600" b="1" dirty="0">
                <a:solidFill>
                  <a:schemeClr val="accent6"/>
                </a:solidFill>
                <a:latin typeface="Times New Roman" panose="02020603050405020304" pitchFamily="18" charset="0"/>
                <a:cs typeface="Times New Roman" panose="02020603050405020304" pitchFamily="18" charset="0"/>
              </a:rPr>
              <a:t>Introduction</a:t>
            </a:r>
            <a:endParaRPr lang="en-IN" sz="3600" b="1" dirty="0">
              <a:solidFill>
                <a:schemeClr val="accent6"/>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48EDB188-5758-4ADD-AAA5-CFCB9258BA29}"/>
              </a:ext>
            </a:extLst>
          </p:cNvPr>
          <p:cNvSpPr txBox="1"/>
          <p:nvPr/>
        </p:nvSpPr>
        <p:spPr>
          <a:xfrm>
            <a:off x="170235" y="-1250727"/>
            <a:ext cx="4542972" cy="584775"/>
          </a:xfrm>
          <a:prstGeom prst="rect">
            <a:avLst/>
          </a:prstGeom>
          <a:noFill/>
        </p:spPr>
        <p:txBody>
          <a:bodyPr wrap="square" rtlCol="0">
            <a:spAutoFit/>
          </a:bodyPr>
          <a:lstStyle/>
          <a:p>
            <a:r>
              <a:rPr lang="en-US" sz="3200" b="1" dirty="0">
                <a:solidFill>
                  <a:schemeClr val="accent6"/>
                </a:solidFill>
                <a:latin typeface="Times New Roman" panose="02020603050405020304" pitchFamily="18" charset="0"/>
                <a:cs typeface="Times New Roman" panose="02020603050405020304" pitchFamily="18" charset="0"/>
              </a:rPr>
              <a:t>Types of Network</a:t>
            </a:r>
            <a:endParaRPr lang="en-IN" sz="3200" b="1" dirty="0">
              <a:solidFill>
                <a:schemeClr val="accent6"/>
              </a:solidFill>
              <a:latin typeface="Times New Roman" panose="02020603050405020304" pitchFamily="18" charset="0"/>
              <a:cs typeface="Times New Roman" panose="02020603050405020304" pitchFamily="18" charset="0"/>
            </a:endParaRPr>
          </a:p>
        </p:txBody>
      </p:sp>
      <p:cxnSp>
        <p:nvCxnSpPr>
          <p:cNvPr id="11" name="Straight Connector 10">
            <a:extLst>
              <a:ext uri="{FF2B5EF4-FFF2-40B4-BE49-F238E27FC236}">
                <a16:creationId xmlns:a16="http://schemas.microsoft.com/office/drawing/2014/main" id="{8FD9DD72-E9A8-4A8A-9C8D-82F81D686063}"/>
              </a:ext>
            </a:extLst>
          </p:cNvPr>
          <p:cNvCxnSpPr>
            <a:cxnSpLocks/>
          </p:cNvCxnSpPr>
          <p:nvPr/>
        </p:nvCxnSpPr>
        <p:spPr>
          <a:xfrm>
            <a:off x="2855100" y="0"/>
            <a:ext cx="0" cy="6589486"/>
          </a:xfrm>
          <a:prstGeom prst="line">
            <a:avLst/>
          </a:prstGeom>
        </p:spPr>
        <p:style>
          <a:lnRef idx="3">
            <a:schemeClr val="dk1"/>
          </a:lnRef>
          <a:fillRef idx="0">
            <a:schemeClr val="dk1"/>
          </a:fillRef>
          <a:effectRef idx="2">
            <a:schemeClr val="dk1"/>
          </a:effectRef>
          <a:fontRef idx="minor">
            <a:schemeClr val="tx1"/>
          </a:fontRef>
        </p:style>
      </p:cxnSp>
      <p:sp>
        <p:nvSpPr>
          <p:cNvPr id="13" name="TextBox 12">
            <a:extLst>
              <a:ext uri="{FF2B5EF4-FFF2-40B4-BE49-F238E27FC236}">
                <a16:creationId xmlns:a16="http://schemas.microsoft.com/office/drawing/2014/main" id="{86D85D7B-F092-4086-B909-7998BC0A5D14}"/>
              </a:ext>
            </a:extLst>
          </p:cNvPr>
          <p:cNvSpPr txBox="1"/>
          <p:nvPr/>
        </p:nvSpPr>
        <p:spPr>
          <a:xfrm>
            <a:off x="3000829" y="126426"/>
            <a:ext cx="6190342" cy="523220"/>
          </a:xfrm>
          <a:prstGeom prst="rect">
            <a:avLst/>
          </a:prstGeom>
          <a:noFill/>
        </p:spPr>
        <p:txBody>
          <a:bodyPr wrap="square">
            <a:spAutoFit/>
          </a:bodyPr>
          <a:lstStyle/>
          <a:p>
            <a:r>
              <a:rPr lang="en-US" sz="2800" b="1" u="sng" dirty="0">
                <a:latin typeface="Times New Roman" panose="02020603050405020304" pitchFamily="18" charset="0"/>
                <a:cs typeface="Times New Roman" panose="02020603050405020304" pitchFamily="18" charset="0"/>
              </a:rPr>
              <a:t>Summary:</a:t>
            </a:r>
            <a:endParaRPr lang="en-IN" sz="2800" b="1" u="sng"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D74527AE-C5B4-4AEC-801F-2134275644FB}"/>
              </a:ext>
            </a:extLst>
          </p:cNvPr>
          <p:cNvSpPr txBox="1"/>
          <p:nvPr/>
        </p:nvSpPr>
        <p:spPr>
          <a:xfrm>
            <a:off x="3012098" y="704176"/>
            <a:ext cx="9155483" cy="2795958"/>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Networking connects devices to share data and resources</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Different types of networks are used for different purposes</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Network topologies define how devices are arranged</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Networking is used in daily life: communication, education, business</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Proper networking improves speed, reliability, and security</a:t>
            </a:r>
          </a:p>
        </p:txBody>
      </p:sp>
      <p:sp>
        <p:nvSpPr>
          <p:cNvPr id="17" name="TextBox 16">
            <a:extLst>
              <a:ext uri="{FF2B5EF4-FFF2-40B4-BE49-F238E27FC236}">
                <a16:creationId xmlns:a16="http://schemas.microsoft.com/office/drawing/2014/main" id="{2F0A65C0-3AF9-4003-9CCD-B6E93619E4C9}"/>
              </a:ext>
            </a:extLst>
          </p:cNvPr>
          <p:cNvSpPr txBox="1"/>
          <p:nvPr/>
        </p:nvSpPr>
        <p:spPr>
          <a:xfrm>
            <a:off x="3012098" y="3733676"/>
            <a:ext cx="9179902" cy="1938992"/>
          </a:xfrm>
          <a:prstGeom prst="rect">
            <a:avLst/>
          </a:prstGeom>
          <a:noFill/>
        </p:spPr>
        <p:txBody>
          <a:bodyPr wrap="square">
            <a:spAutoFit/>
          </a:bodyPr>
          <a:lstStyle/>
          <a:p>
            <a:pPr algn="just"/>
            <a:r>
              <a:rPr lang="en-US" sz="2400" i="0" dirty="0">
                <a:effectLst/>
                <a:latin typeface="Times New Roman" panose="02020603050405020304" pitchFamily="18" charset="0"/>
                <a:cs typeface="Times New Roman" panose="02020603050405020304" pitchFamily="18" charset="0"/>
              </a:rPr>
              <a:t>"Ultimately, effective networking isn't just about connecting devices; it's about connecting people and opportunities. By leveraging these digital pathways, we unlock greater productivity, faster innovation, and build stronger relationships, proving that in today's world, being connected isn't just an advantage—it's a necessity."</a:t>
            </a:r>
            <a:endParaRPr lang="en-IN" sz="2400" dirty="0"/>
          </a:p>
        </p:txBody>
      </p:sp>
      <p:sp>
        <p:nvSpPr>
          <p:cNvPr id="16" name="TextBox 15">
            <a:extLst>
              <a:ext uri="{FF2B5EF4-FFF2-40B4-BE49-F238E27FC236}">
                <a16:creationId xmlns:a16="http://schemas.microsoft.com/office/drawing/2014/main" id="{86DD4B55-3EC0-4345-B9AF-EC6ADEE372A0}"/>
              </a:ext>
            </a:extLst>
          </p:cNvPr>
          <p:cNvSpPr txBox="1"/>
          <p:nvPr/>
        </p:nvSpPr>
        <p:spPr>
          <a:xfrm>
            <a:off x="0" y="649646"/>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Network Topologies</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F86186B5-BF73-44CA-8955-684392D6367B}"/>
              </a:ext>
            </a:extLst>
          </p:cNvPr>
          <p:cNvSpPr txBox="1"/>
          <p:nvPr/>
        </p:nvSpPr>
        <p:spPr>
          <a:xfrm>
            <a:off x="0" y="1057898"/>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Network Devices</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0FEB9A3A-2EDF-4EA9-8986-3DEBE39A20A5}"/>
              </a:ext>
            </a:extLst>
          </p:cNvPr>
          <p:cNvSpPr txBox="1"/>
          <p:nvPr/>
        </p:nvSpPr>
        <p:spPr>
          <a:xfrm>
            <a:off x="-20005" y="1962555"/>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Real-Life Uses</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E5A6499C-F8E1-4938-AC2D-FF5C70116C2E}"/>
              </a:ext>
            </a:extLst>
          </p:cNvPr>
          <p:cNvSpPr txBox="1"/>
          <p:nvPr/>
        </p:nvSpPr>
        <p:spPr>
          <a:xfrm>
            <a:off x="253323" y="2499015"/>
            <a:ext cx="454297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Summary</a:t>
            </a:r>
            <a:endParaRPr lang="en-IN" sz="3200" b="1" dirty="0">
              <a:latin typeface="Times New Roman" panose="02020603050405020304" pitchFamily="18" charset="0"/>
              <a:cs typeface="Times New Roman" panose="02020603050405020304" pitchFamily="18" charset="0"/>
            </a:endParaRPr>
          </a:p>
        </p:txBody>
      </p:sp>
      <p:sp>
        <p:nvSpPr>
          <p:cNvPr id="21" name="Isosceles Triangle 20">
            <a:extLst>
              <a:ext uri="{FF2B5EF4-FFF2-40B4-BE49-F238E27FC236}">
                <a16:creationId xmlns:a16="http://schemas.microsoft.com/office/drawing/2014/main" id="{F04D3E6E-088B-49AA-8234-BEE80DC4E4A1}"/>
              </a:ext>
            </a:extLst>
          </p:cNvPr>
          <p:cNvSpPr/>
          <p:nvPr/>
        </p:nvSpPr>
        <p:spPr>
          <a:xfrm rot="5400000">
            <a:off x="-57208" y="2565164"/>
            <a:ext cx="476250" cy="314781"/>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9E110055-7CCA-465D-909F-A60CC4B7BEE2}"/>
              </a:ext>
            </a:extLst>
          </p:cNvPr>
          <p:cNvSpPr txBox="1"/>
          <p:nvPr/>
        </p:nvSpPr>
        <p:spPr>
          <a:xfrm>
            <a:off x="24417" y="1511302"/>
            <a:ext cx="250039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Layers</a:t>
            </a:r>
            <a:endParaRPr lang="en-IN" sz="3200" b="1" dirty="0">
              <a:solidFill>
                <a:schemeClr val="accent6"/>
              </a:solidFill>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6E949054-B5DF-4EB1-AE24-A7986EE40FD7}"/>
              </a:ext>
            </a:extLst>
          </p:cNvPr>
          <p:cNvSpPr txBox="1"/>
          <p:nvPr/>
        </p:nvSpPr>
        <p:spPr>
          <a:xfrm>
            <a:off x="-10035" y="-97734"/>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Introduction</a:t>
            </a:r>
            <a:endParaRPr lang="en-IN" sz="2400" b="1" dirty="0">
              <a:solidFill>
                <a:schemeClr val="accent6"/>
              </a:solidFill>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4182B417-D790-4C00-83FF-41720E731E90}"/>
              </a:ext>
            </a:extLst>
          </p:cNvPr>
          <p:cNvSpPr txBox="1"/>
          <p:nvPr/>
        </p:nvSpPr>
        <p:spPr>
          <a:xfrm>
            <a:off x="-39063" y="212950"/>
            <a:ext cx="4542972" cy="461665"/>
          </a:xfrm>
          <a:prstGeom prst="rect">
            <a:avLst/>
          </a:prstGeom>
          <a:noFill/>
        </p:spPr>
        <p:txBody>
          <a:bodyPr wrap="square" rtlCol="0">
            <a:spAutoFit/>
          </a:bodyPr>
          <a:lstStyle/>
          <a:p>
            <a:r>
              <a:rPr lang="en-US" sz="2400" b="1" dirty="0">
                <a:solidFill>
                  <a:schemeClr val="accent6"/>
                </a:solidFill>
                <a:latin typeface="Times New Roman" panose="02020603050405020304" pitchFamily="18" charset="0"/>
                <a:cs typeface="Times New Roman" panose="02020603050405020304" pitchFamily="18" charset="0"/>
              </a:rPr>
              <a:t>Types of Network</a:t>
            </a:r>
            <a:endParaRPr lang="en-IN" sz="2400" b="1" dirty="0">
              <a:solidFill>
                <a:schemeClr val="accent6"/>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92326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F806A78-BB9B-46AA-B1BE-CCA429BBB3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7998"/>
          </a:xfrm>
          <a:prstGeom prst="rect">
            <a:avLst/>
          </a:prstGeom>
        </p:spPr>
      </p:pic>
      <p:graphicFrame>
        <p:nvGraphicFramePr>
          <p:cNvPr id="10" name="Table 10">
            <a:extLst>
              <a:ext uri="{FF2B5EF4-FFF2-40B4-BE49-F238E27FC236}">
                <a16:creationId xmlns:a16="http://schemas.microsoft.com/office/drawing/2014/main" id="{20F3369E-7FCB-40F6-A871-B52A82DC2CF4}"/>
              </a:ext>
            </a:extLst>
          </p:cNvPr>
          <p:cNvGraphicFramePr>
            <a:graphicFrameLocks noGrp="1"/>
          </p:cNvGraphicFramePr>
          <p:nvPr/>
        </p:nvGraphicFramePr>
        <p:xfrm>
          <a:off x="-3732524" y="0"/>
          <a:ext cx="4018274" cy="6857998"/>
        </p:xfrm>
        <a:graphic>
          <a:graphicData uri="http://schemas.openxmlformats.org/drawingml/2006/table">
            <a:tbl>
              <a:tblPr firstRow="1" bandRow="1">
                <a:tableStyleId>{5C22544A-7EE6-4342-B048-85BDC9FD1C3A}</a:tableStyleId>
              </a:tblPr>
              <a:tblGrid>
                <a:gridCol w="309098">
                  <a:extLst>
                    <a:ext uri="{9D8B030D-6E8A-4147-A177-3AD203B41FA5}">
                      <a16:colId xmlns:a16="http://schemas.microsoft.com/office/drawing/2014/main" val="1018318942"/>
                    </a:ext>
                  </a:extLst>
                </a:gridCol>
                <a:gridCol w="309098">
                  <a:extLst>
                    <a:ext uri="{9D8B030D-6E8A-4147-A177-3AD203B41FA5}">
                      <a16:colId xmlns:a16="http://schemas.microsoft.com/office/drawing/2014/main" val="1556837738"/>
                    </a:ext>
                  </a:extLst>
                </a:gridCol>
                <a:gridCol w="309098">
                  <a:extLst>
                    <a:ext uri="{9D8B030D-6E8A-4147-A177-3AD203B41FA5}">
                      <a16:colId xmlns:a16="http://schemas.microsoft.com/office/drawing/2014/main" val="407672743"/>
                    </a:ext>
                  </a:extLst>
                </a:gridCol>
                <a:gridCol w="309098">
                  <a:extLst>
                    <a:ext uri="{9D8B030D-6E8A-4147-A177-3AD203B41FA5}">
                      <a16:colId xmlns:a16="http://schemas.microsoft.com/office/drawing/2014/main" val="224714158"/>
                    </a:ext>
                  </a:extLst>
                </a:gridCol>
                <a:gridCol w="309098">
                  <a:extLst>
                    <a:ext uri="{9D8B030D-6E8A-4147-A177-3AD203B41FA5}">
                      <a16:colId xmlns:a16="http://schemas.microsoft.com/office/drawing/2014/main" val="1285657848"/>
                    </a:ext>
                  </a:extLst>
                </a:gridCol>
                <a:gridCol w="309098">
                  <a:extLst>
                    <a:ext uri="{9D8B030D-6E8A-4147-A177-3AD203B41FA5}">
                      <a16:colId xmlns:a16="http://schemas.microsoft.com/office/drawing/2014/main" val="451389259"/>
                    </a:ext>
                  </a:extLst>
                </a:gridCol>
                <a:gridCol w="309098">
                  <a:extLst>
                    <a:ext uri="{9D8B030D-6E8A-4147-A177-3AD203B41FA5}">
                      <a16:colId xmlns:a16="http://schemas.microsoft.com/office/drawing/2014/main" val="2092875743"/>
                    </a:ext>
                  </a:extLst>
                </a:gridCol>
                <a:gridCol w="309098">
                  <a:extLst>
                    <a:ext uri="{9D8B030D-6E8A-4147-A177-3AD203B41FA5}">
                      <a16:colId xmlns:a16="http://schemas.microsoft.com/office/drawing/2014/main" val="2692672111"/>
                    </a:ext>
                  </a:extLst>
                </a:gridCol>
                <a:gridCol w="309098">
                  <a:extLst>
                    <a:ext uri="{9D8B030D-6E8A-4147-A177-3AD203B41FA5}">
                      <a16:colId xmlns:a16="http://schemas.microsoft.com/office/drawing/2014/main" val="2765356661"/>
                    </a:ext>
                  </a:extLst>
                </a:gridCol>
                <a:gridCol w="309098">
                  <a:extLst>
                    <a:ext uri="{9D8B030D-6E8A-4147-A177-3AD203B41FA5}">
                      <a16:colId xmlns:a16="http://schemas.microsoft.com/office/drawing/2014/main" val="3180929778"/>
                    </a:ext>
                  </a:extLst>
                </a:gridCol>
                <a:gridCol w="309098">
                  <a:extLst>
                    <a:ext uri="{9D8B030D-6E8A-4147-A177-3AD203B41FA5}">
                      <a16:colId xmlns:a16="http://schemas.microsoft.com/office/drawing/2014/main" val="1759769754"/>
                    </a:ext>
                  </a:extLst>
                </a:gridCol>
                <a:gridCol w="309098">
                  <a:extLst>
                    <a:ext uri="{9D8B030D-6E8A-4147-A177-3AD203B41FA5}">
                      <a16:colId xmlns:a16="http://schemas.microsoft.com/office/drawing/2014/main" val="521950733"/>
                    </a:ext>
                  </a:extLst>
                </a:gridCol>
                <a:gridCol w="309098">
                  <a:extLst>
                    <a:ext uri="{9D8B030D-6E8A-4147-A177-3AD203B41FA5}">
                      <a16:colId xmlns:a16="http://schemas.microsoft.com/office/drawing/2014/main" val="2559871828"/>
                    </a:ext>
                  </a:extLst>
                </a:gridCol>
              </a:tblGrid>
              <a:tr h="6857998">
                <a:tc>
                  <a:txBody>
                    <a:bodyPr/>
                    <a:lstStyle/>
                    <a:p>
                      <a:endParaRPr lang="en-IN"/>
                    </a:p>
                  </a:txBody>
                  <a:tcPr>
                    <a:lnR w="12700" cmpd="sng">
                      <a:noFill/>
                    </a:lnR>
                    <a:solidFill>
                      <a:schemeClr val="tx1"/>
                    </a:solid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solid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alpha val="90000"/>
                      </a:schemeClr>
                    </a:solid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alpha val="80000"/>
                      </a:schemeClr>
                    </a:solid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alpha val="70000"/>
                      </a:schemeClr>
                    </a:solid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alpha val="60000"/>
                      </a:schemeClr>
                    </a:solid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alpha val="50000"/>
                      </a:schemeClr>
                    </a:solid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alpha val="40000"/>
                      </a:schemeClr>
                    </a:solid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alpha val="30000"/>
                      </a:schemeClr>
                    </a:solid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alpha val="20000"/>
                      </a:schemeClr>
                    </a:solid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alpha val="20000"/>
                      </a:schemeClr>
                    </a:solid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alpha val="10000"/>
                      </a:schemeClr>
                    </a:solid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alpha val="0"/>
                      </a:schemeClr>
                    </a:solidFill>
                  </a:tcPr>
                </a:tc>
                <a:extLst>
                  <a:ext uri="{0D108BD9-81ED-4DB2-BD59-A6C34878D82A}">
                    <a16:rowId xmlns:a16="http://schemas.microsoft.com/office/drawing/2014/main" val="2622045072"/>
                  </a:ext>
                </a:extLst>
              </a:tr>
            </a:tbl>
          </a:graphicData>
        </a:graphic>
      </p:graphicFrame>
    </p:spTree>
    <p:extLst>
      <p:ext uri="{BB962C8B-B14F-4D97-AF65-F5344CB8AC3E}">
        <p14:creationId xmlns:p14="http://schemas.microsoft.com/office/powerpoint/2010/main" val="411014890"/>
      </p:ext>
    </p:extLst>
  </p:cSld>
  <p:clrMapOvr>
    <a:masterClrMapping/>
  </p:clrMapOvr>
  <mc:AlternateContent xmlns:mc="http://schemas.openxmlformats.org/markup-compatibility/2006" xmlns:p14="http://schemas.microsoft.com/office/powerpoint/2010/main">
    <mc:Choice Requires="p14">
      <p:transition p14:dur="10" advTm="2000"/>
    </mc:Choice>
    <mc:Fallback xmlns="">
      <p:transition advTm="200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F806A78-BB9B-46AA-B1BE-CCA429BBB3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68880" y="0"/>
            <a:ext cx="9723120" cy="6857998"/>
          </a:xfrm>
          <a:prstGeom prst="rect">
            <a:avLst/>
          </a:prstGeom>
        </p:spPr>
      </p:pic>
      <p:graphicFrame>
        <p:nvGraphicFramePr>
          <p:cNvPr id="10" name="Table 10">
            <a:extLst>
              <a:ext uri="{FF2B5EF4-FFF2-40B4-BE49-F238E27FC236}">
                <a16:creationId xmlns:a16="http://schemas.microsoft.com/office/drawing/2014/main" id="{20F3369E-7FCB-40F6-A871-B52A82DC2CF4}"/>
              </a:ext>
            </a:extLst>
          </p:cNvPr>
          <p:cNvGraphicFramePr>
            <a:graphicFrameLocks noGrp="1"/>
          </p:cNvGraphicFramePr>
          <p:nvPr/>
        </p:nvGraphicFramePr>
        <p:xfrm>
          <a:off x="-1549400" y="0"/>
          <a:ext cx="9047480" cy="6857998"/>
        </p:xfrm>
        <a:graphic>
          <a:graphicData uri="http://schemas.openxmlformats.org/drawingml/2006/table">
            <a:tbl>
              <a:tblPr firstRow="1" bandRow="1">
                <a:tableStyleId>{5C22544A-7EE6-4342-B048-85BDC9FD1C3A}</a:tableStyleId>
              </a:tblPr>
              <a:tblGrid>
                <a:gridCol w="695960">
                  <a:extLst>
                    <a:ext uri="{9D8B030D-6E8A-4147-A177-3AD203B41FA5}">
                      <a16:colId xmlns:a16="http://schemas.microsoft.com/office/drawing/2014/main" val="1018318942"/>
                    </a:ext>
                  </a:extLst>
                </a:gridCol>
                <a:gridCol w="695960">
                  <a:extLst>
                    <a:ext uri="{9D8B030D-6E8A-4147-A177-3AD203B41FA5}">
                      <a16:colId xmlns:a16="http://schemas.microsoft.com/office/drawing/2014/main" val="1556837738"/>
                    </a:ext>
                  </a:extLst>
                </a:gridCol>
                <a:gridCol w="695960">
                  <a:extLst>
                    <a:ext uri="{9D8B030D-6E8A-4147-A177-3AD203B41FA5}">
                      <a16:colId xmlns:a16="http://schemas.microsoft.com/office/drawing/2014/main" val="407672743"/>
                    </a:ext>
                  </a:extLst>
                </a:gridCol>
                <a:gridCol w="695960">
                  <a:extLst>
                    <a:ext uri="{9D8B030D-6E8A-4147-A177-3AD203B41FA5}">
                      <a16:colId xmlns:a16="http://schemas.microsoft.com/office/drawing/2014/main" val="224714158"/>
                    </a:ext>
                  </a:extLst>
                </a:gridCol>
                <a:gridCol w="695960">
                  <a:extLst>
                    <a:ext uri="{9D8B030D-6E8A-4147-A177-3AD203B41FA5}">
                      <a16:colId xmlns:a16="http://schemas.microsoft.com/office/drawing/2014/main" val="1285657848"/>
                    </a:ext>
                  </a:extLst>
                </a:gridCol>
                <a:gridCol w="695960">
                  <a:extLst>
                    <a:ext uri="{9D8B030D-6E8A-4147-A177-3AD203B41FA5}">
                      <a16:colId xmlns:a16="http://schemas.microsoft.com/office/drawing/2014/main" val="451389259"/>
                    </a:ext>
                  </a:extLst>
                </a:gridCol>
                <a:gridCol w="695960">
                  <a:extLst>
                    <a:ext uri="{9D8B030D-6E8A-4147-A177-3AD203B41FA5}">
                      <a16:colId xmlns:a16="http://schemas.microsoft.com/office/drawing/2014/main" val="2092875743"/>
                    </a:ext>
                  </a:extLst>
                </a:gridCol>
                <a:gridCol w="695960">
                  <a:extLst>
                    <a:ext uri="{9D8B030D-6E8A-4147-A177-3AD203B41FA5}">
                      <a16:colId xmlns:a16="http://schemas.microsoft.com/office/drawing/2014/main" val="2692672111"/>
                    </a:ext>
                  </a:extLst>
                </a:gridCol>
                <a:gridCol w="695960">
                  <a:extLst>
                    <a:ext uri="{9D8B030D-6E8A-4147-A177-3AD203B41FA5}">
                      <a16:colId xmlns:a16="http://schemas.microsoft.com/office/drawing/2014/main" val="2765356661"/>
                    </a:ext>
                  </a:extLst>
                </a:gridCol>
                <a:gridCol w="695960">
                  <a:extLst>
                    <a:ext uri="{9D8B030D-6E8A-4147-A177-3AD203B41FA5}">
                      <a16:colId xmlns:a16="http://schemas.microsoft.com/office/drawing/2014/main" val="3180929778"/>
                    </a:ext>
                  </a:extLst>
                </a:gridCol>
                <a:gridCol w="695960">
                  <a:extLst>
                    <a:ext uri="{9D8B030D-6E8A-4147-A177-3AD203B41FA5}">
                      <a16:colId xmlns:a16="http://schemas.microsoft.com/office/drawing/2014/main" val="1759769754"/>
                    </a:ext>
                  </a:extLst>
                </a:gridCol>
                <a:gridCol w="695960">
                  <a:extLst>
                    <a:ext uri="{9D8B030D-6E8A-4147-A177-3AD203B41FA5}">
                      <a16:colId xmlns:a16="http://schemas.microsoft.com/office/drawing/2014/main" val="521950733"/>
                    </a:ext>
                  </a:extLst>
                </a:gridCol>
                <a:gridCol w="695960">
                  <a:extLst>
                    <a:ext uri="{9D8B030D-6E8A-4147-A177-3AD203B41FA5}">
                      <a16:colId xmlns:a16="http://schemas.microsoft.com/office/drawing/2014/main" val="2559871828"/>
                    </a:ext>
                  </a:extLst>
                </a:gridCol>
              </a:tblGrid>
              <a:tr h="6857998">
                <a:tc>
                  <a:txBody>
                    <a:bodyPr/>
                    <a:lstStyle/>
                    <a:p>
                      <a:endParaRPr lang="en-IN"/>
                    </a:p>
                  </a:txBody>
                  <a:tcPr>
                    <a:lnR w="12700" cmpd="sng">
                      <a:noFill/>
                    </a:lnR>
                    <a:solidFill>
                      <a:schemeClr val="tx1"/>
                    </a:solid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solid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alpha val="90000"/>
                      </a:schemeClr>
                    </a:solid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alpha val="80000"/>
                      </a:schemeClr>
                    </a:solid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alpha val="70000"/>
                      </a:schemeClr>
                    </a:solid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alpha val="60000"/>
                      </a:schemeClr>
                    </a:solid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alpha val="50000"/>
                      </a:schemeClr>
                    </a:solid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alpha val="40000"/>
                      </a:schemeClr>
                    </a:solid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alpha val="30000"/>
                      </a:schemeClr>
                    </a:solid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alpha val="20000"/>
                      </a:schemeClr>
                    </a:solid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alpha val="20000"/>
                      </a:schemeClr>
                    </a:solid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alpha val="10000"/>
                      </a:schemeClr>
                    </a:solid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alpha val="0"/>
                      </a:schemeClr>
                    </a:solidFill>
                  </a:tcPr>
                </a:tc>
                <a:extLst>
                  <a:ext uri="{0D108BD9-81ED-4DB2-BD59-A6C34878D82A}">
                    <a16:rowId xmlns:a16="http://schemas.microsoft.com/office/drawing/2014/main" val="2622045072"/>
                  </a:ext>
                </a:extLst>
              </a:tr>
            </a:tbl>
          </a:graphicData>
        </a:graphic>
      </p:graphicFrame>
      <p:sp>
        <p:nvSpPr>
          <p:cNvPr id="2" name="TextBox 1">
            <a:extLst>
              <a:ext uri="{FF2B5EF4-FFF2-40B4-BE49-F238E27FC236}">
                <a16:creationId xmlns:a16="http://schemas.microsoft.com/office/drawing/2014/main" id="{51830038-6F5A-47F5-B7B4-BED43AAB8835}"/>
              </a:ext>
            </a:extLst>
          </p:cNvPr>
          <p:cNvSpPr txBox="1"/>
          <p:nvPr/>
        </p:nvSpPr>
        <p:spPr>
          <a:xfrm>
            <a:off x="365760" y="2324070"/>
            <a:ext cx="7559040" cy="1569660"/>
          </a:xfrm>
          <a:prstGeom prst="rect">
            <a:avLst/>
          </a:prstGeom>
          <a:noFill/>
        </p:spPr>
        <p:txBody>
          <a:bodyPr wrap="square" rtlCol="0">
            <a:spAutoFit/>
          </a:bodyPr>
          <a:lstStyle/>
          <a:p>
            <a:r>
              <a:rPr lang="en-US" sz="9600" dirty="0">
                <a:solidFill>
                  <a:schemeClr val="bg1"/>
                </a:solidFill>
              </a:rPr>
              <a:t>THANK YOU</a:t>
            </a:r>
            <a:endParaRPr lang="en-IN" sz="9600" dirty="0">
              <a:solidFill>
                <a:schemeClr val="bg1"/>
              </a:solidFill>
            </a:endParaRPr>
          </a:p>
        </p:txBody>
      </p:sp>
    </p:spTree>
    <p:extLst>
      <p:ext uri="{BB962C8B-B14F-4D97-AF65-F5344CB8AC3E}">
        <p14:creationId xmlns:p14="http://schemas.microsoft.com/office/powerpoint/2010/main" val="21912427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TM10001115[[fn=Parcel]]</Template>
  <TotalTime>987</TotalTime>
  <Words>1113</Words>
  <Application>Microsoft Office PowerPoint</Application>
  <PresentationFormat>Widescreen</PresentationFormat>
  <Paragraphs>240</Paragraphs>
  <Slides>20</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Gill Sans MT</vt:lpstr>
      <vt:lpstr>Times New Roman</vt:lpstr>
      <vt:lpstr>Wingdings</vt:lpstr>
      <vt:lpstr>Parcel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Varsha Kulal</dc:creator>
  <cp:lastModifiedBy>Varsha Kulal</cp:lastModifiedBy>
  <cp:revision>87</cp:revision>
  <dcterms:created xsi:type="dcterms:W3CDTF">2025-12-22T05:09:10Z</dcterms:created>
  <dcterms:modified xsi:type="dcterms:W3CDTF">2025-12-30T15:09:06Z</dcterms:modified>
</cp:coreProperties>
</file>